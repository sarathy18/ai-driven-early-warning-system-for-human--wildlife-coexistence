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roxima Nova"/>
      <p:regular r:id="rId31"/>
      <p:bold r:id="rId32"/>
      <p:italic r:id="rId33"/>
      <p:boldItalic r:id="rId34"/>
    </p:embeddedFont>
    <p:embeddedFont>
      <p:font typeface="Alfa Slab One"/>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roximaNova-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roximaNova-italic.fntdata"/><Relationship Id="rId10" Type="http://schemas.openxmlformats.org/officeDocument/2006/relationships/slide" Target="slides/slide5.xml"/><Relationship Id="rId32" Type="http://schemas.openxmlformats.org/officeDocument/2006/relationships/font" Target="fonts/ProximaNova-bold.fntdata"/><Relationship Id="rId13" Type="http://schemas.openxmlformats.org/officeDocument/2006/relationships/slide" Target="slides/slide8.xml"/><Relationship Id="rId35" Type="http://schemas.openxmlformats.org/officeDocument/2006/relationships/font" Target="fonts/AlfaSlabOne-regular.fntdata"/><Relationship Id="rId12" Type="http://schemas.openxmlformats.org/officeDocument/2006/relationships/slide" Target="slides/slide7.xml"/><Relationship Id="rId34" Type="http://schemas.openxmlformats.org/officeDocument/2006/relationships/font" Target="fonts/ProximaNova-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2f2d5e5365_2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g32f2d5e5365_2_1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2f42f0fd24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2f42f0fd24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2f2d5e5365_2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2f2d5e5365_2_1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2f2d5e5365_2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2f2d5e5365_2_1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2cc4e2726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2cc4e2726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2f45a8ff6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2f45a8ff6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f42f0fd24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2f42f0fd24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f2d5e5365_5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2f2d5e5365_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2ccacb8cd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2ccacb8cd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2f577e392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2f577e392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8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cc4e27264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2cc4e27264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cc4e27264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2cc4e27264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ccacb8cd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2ccacb8cd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cc4e27264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2cc4e27264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cc4e27264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cc4e27264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18fd925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318fd925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af9eb994f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af9eb994f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42d5efdb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42d5efdb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42d5efdb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42d5efdb3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7f03807c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57f03807c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42d5efdb3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42d5efdb3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2f577e392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2f577e392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f577e392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2f577e392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cc4e27264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2cc4e27264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2d16b5442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2d16b5442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13"/>
          <p:cNvSpPr txBox="1"/>
          <p:nvPr>
            <p:ph type="title"/>
          </p:nvPr>
        </p:nvSpPr>
        <p:spPr>
          <a:xfrm>
            <a:off x="1944694" y="468083"/>
            <a:ext cx="6683700" cy="96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rgbClr val="262626"/>
              </a:buClr>
              <a:buSzPts val="1400"/>
              <a:buNone/>
              <a:defRPr/>
            </a:lvl1pPr>
            <a:lvl2pPr lvl="1" algn="l">
              <a:spcBef>
                <a:spcPts val="0"/>
              </a:spcBef>
              <a:spcAft>
                <a:spcPts val="0"/>
              </a:spcAft>
              <a:buSzPts val="3000"/>
              <a:buNone/>
              <a:defRPr/>
            </a:lvl2pPr>
            <a:lvl3pPr lvl="2" algn="l">
              <a:spcBef>
                <a:spcPts val="0"/>
              </a:spcBef>
              <a:spcAft>
                <a:spcPts val="0"/>
              </a:spcAft>
              <a:buSzPts val="3000"/>
              <a:buNone/>
              <a:defRPr/>
            </a:lvl3pPr>
            <a:lvl4pPr lvl="3" algn="l">
              <a:spcBef>
                <a:spcPts val="0"/>
              </a:spcBef>
              <a:spcAft>
                <a:spcPts val="0"/>
              </a:spcAft>
              <a:buSzPts val="3000"/>
              <a:buNone/>
              <a:defRPr/>
            </a:lvl4pPr>
            <a:lvl5pPr lvl="4" algn="l">
              <a:spcBef>
                <a:spcPts val="0"/>
              </a:spcBef>
              <a:spcAft>
                <a:spcPts val="0"/>
              </a:spcAft>
              <a:buSzPts val="3000"/>
              <a:buNone/>
              <a:defRPr/>
            </a:lvl5pPr>
            <a:lvl6pPr lvl="5" algn="l">
              <a:spcBef>
                <a:spcPts val="0"/>
              </a:spcBef>
              <a:spcAft>
                <a:spcPts val="0"/>
              </a:spcAft>
              <a:buSzPts val="3000"/>
              <a:buNone/>
              <a:defRPr/>
            </a:lvl6pPr>
            <a:lvl7pPr lvl="6" algn="l">
              <a:spcBef>
                <a:spcPts val="0"/>
              </a:spcBef>
              <a:spcAft>
                <a:spcPts val="0"/>
              </a:spcAft>
              <a:buSzPts val="3000"/>
              <a:buNone/>
              <a:defRPr/>
            </a:lvl7pPr>
            <a:lvl8pPr lvl="7" algn="l">
              <a:spcBef>
                <a:spcPts val="0"/>
              </a:spcBef>
              <a:spcAft>
                <a:spcPts val="0"/>
              </a:spcAft>
              <a:buSzPts val="3000"/>
              <a:buNone/>
              <a:defRPr/>
            </a:lvl8pPr>
            <a:lvl9pPr lvl="8" algn="l">
              <a:spcBef>
                <a:spcPts val="0"/>
              </a:spcBef>
              <a:spcAft>
                <a:spcPts val="0"/>
              </a:spcAft>
              <a:buSzPts val="3000"/>
              <a:buNone/>
              <a:defRPr/>
            </a:lvl9pPr>
          </a:lstStyle>
          <a:p/>
        </p:txBody>
      </p:sp>
      <p:sp>
        <p:nvSpPr>
          <p:cNvPr id="54" name="Google Shape;54;p13"/>
          <p:cNvSpPr txBox="1"/>
          <p:nvPr>
            <p:ph idx="1" type="body"/>
          </p:nvPr>
        </p:nvSpPr>
        <p:spPr>
          <a:xfrm>
            <a:off x="1941909" y="1600200"/>
            <a:ext cx="6686700" cy="2833200"/>
          </a:xfrm>
          <a:prstGeom prst="rect">
            <a:avLst/>
          </a:prstGeom>
          <a:noFill/>
          <a:ln>
            <a:noFill/>
          </a:ln>
        </p:spPr>
        <p:txBody>
          <a:bodyPr anchorCtr="0" anchor="t" bIns="34275" lIns="68575" spcFirstLastPara="1" rIns="68575" wrap="square" tIns="34275">
            <a:normAutofit/>
          </a:bodyPr>
          <a:lstStyle>
            <a:lvl1pPr indent="-317500" lvl="0" marL="457200" algn="l">
              <a:spcBef>
                <a:spcPts val="800"/>
              </a:spcBef>
              <a:spcAft>
                <a:spcPts val="0"/>
              </a:spcAft>
              <a:buSzPts val="1400"/>
              <a:buChar char="●"/>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0"/>
              </a:spcAft>
              <a:buSzPts val="1400"/>
              <a:buChar char="■"/>
              <a:defRPr/>
            </a:lvl9pPr>
          </a:lstStyle>
          <a:p/>
        </p:txBody>
      </p:sp>
      <p:sp>
        <p:nvSpPr>
          <p:cNvPr id="55" name="Google Shape;55;p13"/>
          <p:cNvSpPr txBox="1"/>
          <p:nvPr>
            <p:ph idx="10" type="dt"/>
          </p:nvPr>
        </p:nvSpPr>
        <p:spPr>
          <a:xfrm>
            <a:off x="7771209" y="4597828"/>
            <a:ext cx="859800" cy="277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3"/>
          <p:cNvSpPr txBox="1"/>
          <p:nvPr>
            <p:ph idx="11" type="ftr"/>
          </p:nvPr>
        </p:nvSpPr>
        <p:spPr>
          <a:xfrm>
            <a:off x="1941909" y="4601856"/>
            <a:ext cx="57150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p:nvPr/>
        </p:nvSpPr>
        <p:spPr>
          <a:xfrm flipH="1" rot="10800000">
            <a:off x="-3142" y="535779"/>
            <a:ext cx="1191397" cy="380475"/>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3"/>
          <p:cNvSpPr txBox="1"/>
          <p:nvPr>
            <p:ph idx="12" type="sldNum"/>
          </p:nvPr>
        </p:nvSpPr>
        <p:spPr>
          <a:xfrm>
            <a:off x="398859" y="590837"/>
            <a:ext cx="5847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 name="Shape 62"/>
        <p:cNvGrpSpPr/>
        <p:nvPr/>
      </p:nvGrpSpPr>
      <p:grpSpPr>
        <a:xfrm>
          <a:off x="0" y="0"/>
          <a:ext cx="0" cy="0"/>
          <a:chOff x="0" y="0"/>
          <a:chExt cx="0" cy="0"/>
        </a:xfrm>
      </p:grpSpPr>
      <p:sp>
        <p:nvSpPr>
          <p:cNvPr id="63" name="Google Shape;63;p14"/>
          <p:cNvSpPr txBox="1"/>
          <p:nvPr>
            <p:ph type="ctrTitle"/>
          </p:nvPr>
        </p:nvSpPr>
        <p:spPr>
          <a:xfrm>
            <a:off x="895350" y="656402"/>
            <a:ext cx="7353300" cy="1179900"/>
          </a:xfrm>
          <a:prstGeom prst="rect">
            <a:avLst/>
          </a:prstGeom>
          <a:noFill/>
          <a:ln>
            <a:noFill/>
          </a:ln>
        </p:spPr>
        <p:txBody>
          <a:bodyPr anchorCtr="0" anchor="b" bIns="34275" lIns="68575" spcFirstLastPara="1" rIns="68575" wrap="square" tIns="34275">
            <a:noAutofit/>
          </a:bodyPr>
          <a:lstStyle/>
          <a:p>
            <a:pPr indent="0" lvl="0" marL="0" rtl="0" algn="just">
              <a:lnSpc>
                <a:spcPct val="150000"/>
              </a:lnSpc>
              <a:spcBef>
                <a:spcPts val="0"/>
              </a:spcBef>
              <a:spcAft>
                <a:spcPts val="0"/>
              </a:spcAft>
              <a:buClr>
                <a:srgbClr val="262626"/>
              </a:buClr>
              <a:buSzPts val="2160"/>
              <a:buFont typeface="Arial Rounded"/>
              <a:buNone/>
            </a:pPr>
            <a:r>
              <a:rPr b="1" lang="en-GB" sz="2660">
                <a:latin typeface="Arial Rounded"/>
                <a:ea typeface="Arial Rounded"/>
                <a:cs typeface="Arial Rounded"/>
                <a:sym typeface="Arial Rounded"/>
              </a:rPr>
              <a:t>AI-Driven Early-Warning System for Human-          Wildlife Coexistence</a:t>
            </a:r>
            <a:endParaRPr b="1" sz="2660">
              <a:latin typeface="Arial Rounded"/>
              <a:ea typeface="Arial Rounded"/>
              <a:cs typeface="Arial Rounded"/>
              <a:sym typeface="Arial Rounded"/>
            </a:endParaRPr>
          </a:p>
        </p:txBody>
      </p:sp>
      <p:sp>
        <p:nvSpPr>
          <p:cNvPr id="64" name="Google Shape;64;p14"/>
          <p:cNvSpPr txBox="1"/>
          <p:nvPr>
            <p:ph idx="1" type="subTitle"/>
          </p:nvPr>
        </p:nvSpPr>
        <p:spPr>
          <a:xfrm>
            <a:off x="3330600" y="2483425"/>
            <a:ext cx="5618400" cy="2238300"/>
          </a:xfrm>
          <a:prstGeom prst="rect">
            <a:avLst/>
          </a:prstGeom>
          <a:solidFill>
            <a:schemeClr val="lt1"/>
          </a:solidFill>
          <a:ln>
            <a:noFill/>
          </a:ln>
        </p:spPr>
        <p:txBody>
          <a:bodyPr anchorCtr="0" anchor="t" bIns="34275" lIns="68575" spcFirstLastPara="1" rIns="68575" wrap="square" tIns="34275">
            <a:noAutofit/>
          </a:bodyPr>
          <a:lstStyle/>
          <a:p>
            <a:pPr indent="-335541" lvl="0" marL="457200" rtl="0" algn="l">
              <a:lnSpc>
                <a:spcPct val="150000"/>
              </a:lnSpc>
              <a:spcBef>
                <a:spcPts val="0"/>
              </a:spcBef>
              <a:spcAft>
                <a:spcPts val="0"/>
              </a:spcAft>
              <a:buClr>
                <a:srgbClr val="262626"/>
              </a:buClr>
              <a:buSzPts val="1684"/>
              <a:buFont typeface="Arial"/>
              <a:buAutoNum type="arabicPeriod"/>
            </a:pPr>
            <a:r>
              <a:rPr b="1" lang="en-GB" sz="1684">
                <a:solidFill>
                  <a:srgbClr val="262626"/>
                </a:solidFill>
                <a:highlight>
                  <a:schemeClr val="lt1"/>
                </a:highlight>
                <a:latin typeface="Arial"/>
                <a:ea typeface="Arial"/>
                <a:cs typeface="Arial"/>
                <a:sym typeface="Arial"/>
              </a:rPr>
              <a:t>Madhu Asmitha P S (921321243027) </a:t>
            </a:r>
            <a:endParaRPr sz="1684">
              <a:solidFill>
                <a:srgbClr val="262626"/>
              </a:solidFill>
              <a:highlight>
                <a:schemeClr val="lt1"/>
              </a:highlight>
            </a:endParaRPr>
          </a:p>
          <a:p>
            <a:pPr indent="-335541" lvl="0" marL="457200" rtl="0" algn="l">
              <a:lnSpc>
                <a:spcPct val="150000"/>
              </a:lnSpc>
              <a:spcBef>
                <a:spcPts val="0"/>
              </a:spcBef>
              <a:spcAft>
                <a:spcPts val="0"/>
              </a:spcAft>
              <a:buClr>
                <a:srgbClr val="262626"/>
              </a:buClr>
              <a:buSzPts val="1684"/>
              <a:buFont typeface="Arial"/>
              <a:buAutoNum type="arabicPeriod"/>
            </a:pPr>
            <a:r>
              <a:rPr b="1" lang="en-GB" sz="1684">
                <a:solidFill>
                  <a:srgbClr val="262626"/>
                </a:solidFill>
                <a:highlight>
                  <a:schemeClr val="lt1"/>
                </a:highlight>
                <a:latin typeface="Arial"/>
                <a:ea typeface="Arial"/>
                <a:cs typeface="Arial"/>
                <a:sym typeface="Arial"/>
              </a:rPr>
              <a:t>Raja Sudharshana Govind R (921321243044) </a:t>
            </a:r>
            <a:endParaRPr sz="1684">
              <a:solidFill>
                <a:srgbClr val="262626"/>
              </a:solidFill>
              <a:highlight>
                <a:schemeClr val="lt1"/>
              </a:highlight>
            </a:endParaRPr>
          </a:p>
          <a:p>
            <a:pPr indent="-335541" lvl="0" marL="457200" rtl="0" algn="l">
              <a:lnSpc>
                <a:spcPct val="150000"/>
              </a:lnSpc>
              <a:spcBef>
                <a:spcPts val="0"/>
              </a:spcBef>
              <a:spcAft>
                <a:spcPts val="0"/>
              </a:spcAft>
              <a:buClr>
                <a:srgbClr val="262626"/>
              </a:buClr>
              <a:buSzPts val="1684"/>
              <a:buFont typeface="Arial"/>
              <a:buAutoNum type="arabicPeriod"/>
            </a:pPr>
            <a:r>
              <a:rPr b="1" lang="en-GB" sz="1684">
                <a:solidFill>
                  <a:srgbClr val="262626"/>
                </a:solidFill>
                <a:highlight>
                  <a:schemeClr val="lt1"/>
                </a:highlight>
                <a:latin typeface="Arial"/>
                <a:ea typeface="Arial"/>
                <a:cs typeface="Arial"/>
                <a:sym typeface="Arial"/>
              </a:rPr>
              <a:t>Partha Sarathy C A (921321243040) </a:t>
            </a:r>
            <a:endParaRPr b="1" sz="1684">
              <a:solidFill>
                <a:srgbClr val="262626"/>
              </a:solidFill>
              <a:highlight>
                <a:schemeClr val="lt1"/>
              </a:highlight>
              <a:latin typeface="Arial"/>
              <a:ea typeface="Arial"/>
              <a:cs typeface="Arial"/>
              <a:sym typeface="Arial"/>
            </a:endParaRPr>
          </a:p>
          <a:p>
            <a:pPr indent="0" lvl="0" marL="0" rtl="0" algn="l">
              <a:lnSpc>
                <a:spcPct val="150000"/>
              </a:lnSpc>
              <a:spcBef>
                <a:spcPts val="800"/>
              </a:spcBef>
              <a:spcAft>
                <a:spcPts val="0"/>
              </a:spcAft>
              <a:buSzPts val="713"/>
              <a:buNone/>
            </a:pPr>
            <a:r>
              <a:rPr b="1" lang="en-GB" sz="1684">
                <a:solidFill>
                  <a:srgbClr val="262626"/>
                </a:solidFill>
                <a:highlight>
                  <a:schemeClr val="lt1"/>
                </a:highlight>
                <a:latin typeface="Arial"/>
                <a:ea typeface="Arial"/>
                <a:cs typeface="Arial"/>
                <a:sym typeface="Arial"/>
              </a:rPr>
              <a:t>Guide Name: Mrs. G.Janani alias Pandeeswari, M.E </a:t>
            </a:r>
            <a:endParaRPr sz="1684">
              <a:solidFill>
                <a:srgbClr val="262626"/>
              </a:solidFill>
              <a:highlight>
                <a:schemeClr val="lt1"/>
              </a:highlight>
            </a:endParaRPr>
          </a:p>
          <a:p>
            <a:pPr indent="0" lvl="0" marL="0" rtl="0" algn="l">
              <a:lnSpc>
                <a:spcPct val="150000"/>
              </a:lnSpc>
              <a:spcBef>
                <a:spcPts val="800"/>
              </a:spcBef>
              <a:spcAft>
                <a:spcPts val="0"/>
              </a:spcAft>
              <a:buSzPts val="713"/>
              <a:buNone/>
            </a:pPr>
            <a:r>
              <a:rPr b="1" lang="en-GB" sz="1684">
                <a:solidFill>
                  <a:srgbClr val="262626"/>
                </a:solidFill>
                <a:highlight>
                  <a:schemeClr val="lt1"/>
                </a:highlight>
                <a:latin typeface="Arial"/>
                <a:ea typeface="Arial"/>
                <a:cs typeface="Arial"/>
                <a:sym typeface="Arial"/>
              </a:rPr>
              <a:t>Designation: AP / AI&amp;DS</a:t>
            </a:r>
            <a:endParaRPr sz="1684">
              <a:solidFill>
                <a:srgbClr val="262626"/>
              </a:solidFill>
              <a:highlight>
                <a:schemeClr val="lt1"/>
              </a:highlight>
            </a:endParaRPr>
          </a:p>
          <a:p>
            <a:pPr indent="0" lvl="0" marL="0" rtl="0" algn="l">
              <a:lnSpc>
                <a:spcPct val="90000"/>
              </a:lnSpc>
              <a:spcBef>
                <a:spcPts val="800"/>
              </a:spcBef>
              <a:spcAft>
                <a:spcPts val="0"/>
              </a:spcAft>
              <a:buSzPts val="713"/>
              <a:buNone/>
            </a:pPr>
            <a:r>
              <a:t/>
            </a:r>
            <a:endParaRPr b="1" sz="712">
              <a:solidFill>
                <a:srgbClr val="262626"/>
              </a:solidFill>
              <a:latin typeface="Arial"/>
              <a:ea typeface="Arial"/>
              <a:cs typeface="Arial"/>
              <a:sym typeface="Arial"/>
            </a:endParaRPr>
          </a:p>
          <a:p>
            <a:pPr indent="0" lvl="0" marL="0" rtl="0" algn="l">
              <a:lnSpc>
                <a:spcPct val="90000"/>
              </a:lnSpc>
              <a:spcBef>
                <a:spcPts val="800"/>
              </a:spcBef>
              <a:spcAft>
                <a:spcPts val="0"/>
              </a:spcAft>
              <a:buSzPts val="713"/>
              <a:buNone/>
            </a:pPr>
            <a:r>
              <a:t/>
            </a:r>
            <a:endParaRPr b="1" sz="712">
              <a:solidFill>
                <a:srgbClr val="262626"/>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1292250" y="489823"/>
            <a:ext cx="6683700" cy="12543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PROBLEM STATEMENT:</a:t>
            </a:r>
            <a:endParaRPr>
              <a:latin typeface="Arial Rounded"/>
              <a:ea typeface="Arial Rounded"/>
              <a:cs typeface="Arial Rounded"/>
              <a:sym typeface="Arial Rounded"/>
            </a:endParaRPr>
          </a:p>
          <a:p>
            <a:pPr indent="0" lvl="0" marL="0" rtl="0" algn="l">
              <a:spcBef>
                <a:spcPts val="0"/>
              </a:spcBef>
              <a:spcAft>
                <a:spcPts val="0"/>
              </a:spcAft>
              <a:buNone/>
            </a:pPr>
            <a:r>
              <a:t/>
            </a:r>
            <a:endParaRPr b="1" sz="1766">
              <a:latin typeface="Arial"/>
              <a:ea typeface="Arial"/>
              <a:cs typeface="Arial"/>
              <a:sym typeface="Arial"/>
            </a:endParaRPr>
          </a:p>
        </p:txBody>
      </p:sp>
      <p:sp>
        <p:nvSpPr>
          <p:cNvPr id="70" name="Google Shape;70;p15"/>
          <p:cNvSpPr txBox="1"/>
          <p:nvPr>
            <p:ph idx="1" type="body"/>
          </p:nvPr>
        </p:nvSpPr>
        <p:spPr>
          <a:xfrm>
            <a:off x="564000" y="1070475"/>
            <a:ext cx="8140200" cy="3796200"/>
          </a:xfrm>
          <a:prstGeom prst="rect">
            <a:avLst/>
          </a:prstGeom>
        </p:spPr>
        <p:txBody>
          <a:bodyPr anchorCtr="0" anchor="t" bIns="34275" lIns="68575" spcFirstLastPara="1" rIns="68575" wrap="square" tIns="34275">
            <a:normAutofit fontScale="70000" lnSpcReduction="20000"/>
          </a:bodyPr>
          <a:lstStyle/>
          <a:p>
            <a:pPr indent="0" lvl="0" marL="0" rtl="0" algn="just">
              <a:lnSpc>
                <a:spcPct val="150000"/>
              </a:lnSpc>
              <a:spcBef>
                <a:spcPts val="800"/>
              </a:spcBef>
              <a:spcAft>
                <a:spcPts val="0"/>
              </a:spcAft>
              <a:buNone/>
            </a:pPr>
            <a:r>
              <a:t/>
            </a:r>
            <a:endParaRPr sz="2674">
              <a:latin typeface="Arial"/>
              <a:ea typeface="Arial"/>
              <a:cs typeface="Arial"/>
              <a:sym typeface="Arial"/>
            </a:endParaRPr>
          </a:p>
          <a:p>
            <a:pPr indent="0" lvl="0" marL="0" rtl="0" algn="l">
              <a:lnSpc>
                <a:spcPct val="150000"/>
              </a:lnSpc>
              <a:spcBef>
                <a:spcPts val="0"/>
              </a:spcBef>
              <a:spcAft>
                <a:spcPts val="0"/>
              </a:spcAft>
              <a:buNone/>
            </a:pPr>
            <a:r>
              <a:rPr b="1" lang="en-GB" sz="2674">
                <a:solidFill>
                  <a:srgbClr val="000000"/>
                </a:solidFill>
                <a:latin typeface="Arial"/>
                <a:ea typeface="Arial"/>
                <a:cs typeface="Arial"/>
                <a:sym typeface="Arial"/>
              </a:rPr>
              <a:t>Theme: </a:t>
            </a:r>
            <a:r>
              <a:rPr b="1" lang="en-GB" sz="2674">
                <a:solidFill>
                  <a:srgbClr val="000000"/>
                </a:solidFill>
                <a:latin typeface="Arial"/>
                <a:ea typeface="Arial"/>
                <a:cs typeface="Arial"/>
                <a:sym typeface="Arial"/>
              </a:rPr>
              <a:t>Information/Communication Technology</a:t>
            </a:r>
            <a:endParaRPr b="1" sz="2674">
              <a:solidFill>
                <a:srgbClr val="000000"/>
              </a:solidFill>
              <a:latin typeface="Arial"/>
              <a:ea typeface="Arial"/>
              <a:cs typeface="Arial"/>
              <a:sym typeface="Arial"/>
            </a:endParaRPr>
          </a:p>
          <a:p>
            <a:pPr indent="0" lvl="0" marL="0" rtl="0" algn="just">
              <a:lnSpc>
                <a:spcPct val="150000"/>
              </a:lnSpc>
              <a:spcBef>
                <a:spcPts val="800"/>
              </a:spcBef>
              <a:spcAft>
                <a:spcPts val="0"/>
              </a:spcAft>
              <a:buNone/>
            </a:pPr>
            <a:r>
              <a:rPr lang="en-GB" sz="2674">
                <a:solidFill>
                  <a:srgbClr val="262626"/>
                </a:solidFill>
                <a:latin typeface="Arial"/>
                <a:ea typeface="Arial"/>
                <a:cs typeface="Arial"/>
                <a:sym typeface="Arial"/>
              </a:rPr>
              <a:t>How might we design and implement a reliable, cost-effective safety system for tribal communities in remote mountainous regions, which </a:t>
            </a:r>
            <a:r>
              <a:rPr b="1" lang="en-GB" sz="2674">
                <a:solidFill>
                  <a:srgbClr val="262626"/>
                </a:solidFill>
                <a:latin typeface="Arial"/>
                <a:ea typeface="Arial"/>
                <a:cs typeface="Arial"/>
                <a:sym typeface="Arial"/>
              </a:rPr>
              <a:t>detects wild animal threats and provides early alerts</a:t>
            </a:r>
            <a:r>
              <a:rPr lang="en-GB" sz="2674">
                <a:solidFill>
                  <a:srgbClr val="262626"/>
                </a:solidFill>
                <a:latin typeface="Arial"/>
                <a:ea typeface="Arial"/>
                <a:cs typeface="Arial"/>
                <a:sym typeface="Arial"/>
              </a:rPr>
              <a:t>? How can we ensure seamless communication infrastructure that enables these communities to </a:t>
            </a:r>
            <a:r>
              <a:rPr b="1" lang="en-GB" sz="2674">
                <a:solidFill>
                  <a:srgbClr val="262626"/>
                </a:solidFill>
                <a:latin typeface="Arial"/>
                <a:ea typeface="Arial"/>
                <a:cs typeface="Arial"/>
                <a:sym typeface="Arial"/>
              </a:rPr>
              <a:t>connect with forest officers during emergencies</a:t>
            </a:r>
            <a:r>
              <a:rPr lang="en-GB" sz="2674">
                <a:solidFill>
                  <a:srgbClr val="262626"/>
                </a:solidFill>
                <a:latin typeface="Arial"/>
                <a:ea typeface="Arial"/>
                <a:cs typeface="Arial"/>
                <a:sym typeface="Arial"/>
              </a:rPr>
              <a:t>, allowing them to share vital information and access assistance in real-time?</a:t>
            </a:r>
            <a:endParaRPr sz="2674">
              <a:solidFill>
                <a:srgbClr val="262626"/>
              </a:solidFill>
              <a:latin typeface="Arial"/>
              <a:ea typeface="Arial"/>
              <a:cs typeface="Arial"/>
              <a:sym typeface="Arial"/>
            </a:endParaRPr>
          </a:p>
          <a:p>
            <a:pPr indent="0" lvl="0" marL="0" rtl="0" algn="l">
              <a:lnSpc>
                <a:spcPct val="100000"/>
              </a:lnSpc>
              <a:spcBef>
                <a:spcPts val="0"/>
              </a:spcBef>
              <a:spcAft>
                <a:spcPts val="0"/>
              </a:spcAft>
              <a:buNone/>
            </a:pPr>
            <a:r>
              <a:rPr b="1" lang="en-GB" sz="3000">
                <a:solidFill>
                  <a:schemeClr val="accent3"/>
                </a:solidFill>
                <a:latin typeface="Alfa Slab One"/>
                <a:ea typeface="Alfa Slab One"/>
                <a:cs typeface="Alfa Slab One"/>
                <a:sym typeface="Alfa Slab One"/>
              </a:rPr>
              <a:t> </a:t>
            </a:r>
            <a:endParaRPr b="1" sz="1766">
              <a:solidFill>
                <a:schemeClr val="accent3"/>
              </a:solidFill>
              <a:latin typeface="Arial"/>
              <a:ea typeface="Arial"/>
              <a:cs typeface="Arial"/>
              <a:sym typeface="Arial"/>
            </a:endParaRPr>
          </a:p>
          <a:p>
            <a:pPr indent="0" lvl="0" marL="0" rtl="0" algn="just">
              <a:spcBef>
                <a:spcPts val="8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1230117" y="468083"/>
            <a:ext cx="6683765" cy="960668"/>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rgbClr val="262626"/>
              </a:buClr>
              <a:buSzPts val="3000"/>
              <a:buFont typeface="Arial Rounded"/>
              <a:buNone/>
            </a:pPr>
            <a:r>
              <a:rPr b="1" lang="en-GB" sz="3000">
                <a:latin typeface="Arial Rounded"/>
                <a:ea typeface="Arial Rounded"/>
                <a:cs typeface="Arial Rounded"/>
                <a:sym typeface="Arial Rounded"/>
              </a:rPr>
              <a:t>ABSTRACT:</a:t>
            </a:r>
            <a:endParaRPr b="1" sz="3000">
              <a:latin typeface="Arial Rounded"/>
              <a:ea typeface="Arial Rounded"/>
              <a:cs typeface="Arial Rounded"/>
              <a:sym typeface="Arial Rounded"/>
            </a:endParaRPr>
          </a:p>
        </p:txBody>
      </p:sp>
      <p:sp>
        <p:nvSpPr>
          <p:cNvPr id="76" name="Google Shape;76;p16"/>
          <p:cNvSpPr txBox="1"/>
          <p:nvPr>
            <p:ph idx="1" type="body"/>
          </p:nvPr>
        </p:nvSpPr>
        <p:spPr>
          <a:xfrm>
            <a:off x="567225" y="1084275"/>
            <a:ext cx="8253000" cy="3706800"/>
          </a:xfrm>
          <a:prstGeom prst="rect">
            <a:avLst/>
          </a:prstGeom>
          <a:noFill/>
          <a:ln>
            <a:noFill/>
          </a:ln>
        </p:spPr>
        <p:txBody>
          <a:bodyPr anchorCtr="0" anchor="t" bIns="34275" lIns="68575" spcFirstLastPara="1" rIns="68575" wrap="square" tIns="34275">
            <a:noAutofit/>
          </a:bodyPr>
          <a:lstStyle/>
          <a:p>
            <a:pPr indent="-334803" lvl="0" marL="457200" rtl="0" algn="just">
              <a:lnSpc>
                <a:spcPct val="105000"/>
              </a:lnSpc>
              <a:spcBef>
                <a:spcPts val="0"/>
              </a:spcBef>
              <a:spcAft>
                <a:spcPts val="0"/>
              </a:spcAft>
              <a:buClr>
                <a:srgbClr val="000000"/>
              </a:buClr>
              <a:buSzPts val="1673"/>
              <a:buFont typeface="Arial"/>
              <a:buChar char="●"/>
            </a:pPr>
            <a:r>
              <a:rPr lang="en-GB" sz="1672">
                <a:solidFill>
                  <a:srgbClr val="000000"/>
                </a:solidFill>
                <a:latin typeface="Arial"/>
                <a:ea typeface="Arial"/>
                <a:cs typeface="Arial"/>
                <a:sym typeface="Arial"/>
              </a:rPr>
              <a:t>The proposed solution offers a real-time early-warning system powered by sensors, AI, and renewable energy.  </a:t>
            </a:r>
            <a:endParaRPr sz="1672">
              <a:solidFill>
                <a:srgbClr val="000000"/>
              </a:solidFill>
              <a:latin typeface="Arial"/>
              <a:ea typeface="Arial"/>
              <a:cs typeface="Arial"/>
              <a:sym typeface="Arial"/>
            </a:endParaRPr>
          </a:p>
          <a:p>
            <a:pPr indent="0" lvl="0" marL="457200" rtl="0" algn="just">
              <a:lnSpc>
                <a:spcPct val="105000"/>
              </a:lnSpc>
              <a:spcBef>
                <a:spcPts val="0"/>
              </a:spcBef>
              <a:spcAft>
                <a:spcPts val="0"/>
              </a:spcAft>
              <a:buSzPts val="1018"/>
              <a:buNone/>
            </a:pPr>
            <a:r>
              <a:t/>
            </a:r>
            <a:endParaRPr sz="1672">
              <a:solidFill>
                <a:srgbClr val="000000"/>
              </a:solidFill>
              <a:latin typeface="Arial"/>
              <a:ea typeface="Arial"/>
              <a:cs typeface="Arial"/>
              <a:sym typeface="Arial"/>
            </a:endParaRPr>
          </a:p>
          <a:p>
            <a:pPr indent="-334803" lvl="0" marL="457200" rtl="0" algn="just">
              <a:lnSpc>
                <a:spcPct val="105000"/>
              </a:lnSpc>
              <a:spcBef>
                <a:spcPts val="0"/>
              </a:spcBef>
              <a:spcAft>
                <a:spcPts val="0"/>
              </a:spcAft>
              <a:buClr>
                <a:srgbClr val="000000"/>
              </a:buClr>
              <a:buSzPts val="1673"/>
              <a:buFont typeface="Arial"/>
              <a:buChar char="●"/>
            </a:pPr>
            <a:r>
              <a:rPr lang="en-GB" sz="1672">
                <a:solidFill>
                  <a:srgbClr val="000000"/>
                </a:solidFill>
                <a:latin typeface="Arial"/>
                <a:ea typeface="Arial"/>
                <a:cs typeface="Arial"/>
                <a:sym typeface="Arial"/>
              </a:rPr>
              <a:t>Thermal imaging cameras detect animal movement through heat signatures, LIDAR measures distance and size, and acoustic sensors identify animal sounds. AI models (CNN and YOLO) improve detection accuracy and reduce false alarms.  </a:t>
            </a:r>
            <a:endParaRPr sz="1672">
              <a:solidFill>
                <a:srgbClr val="000000"/>
              </a:solidFill>
              <a:latin typeface="Arial"/>
              <a:ea typeface="Arial"/>
              <a:cs typeface="Arial"/>
              <a:sym typeface="Arial"/>
            </a:endParaRPr>
          </a:p>
          <a:p>
            <a:pPr indent="0" lvl="0" marL="457200" rtl="0" algn="just">
              <a:lnSpc>
                <a:spcPct val="105000"/>
              </a:lnSpc>
              <a:spcBef>
                <a:spcPts val="0"/>
              </a:spcBef>
              <a:spcAft>
                <a:spcPts val="0"/>
              </a:spcAft>
              <a:buNone/>
            </a:pPr>
            <a:r>
              <a:t/>
            </a:r>
            <a:endParaRPr sz="1672">
              <a:solidFill>
                <a:srgbClr val="000000"/>
              </a:solidFill>
              <a:latin typeface="Arial"/>
              <a:ea typeface="Arial"/>
              <a:cs typeface="Arial"/>
              <a:sym typeface="Arial"/>
            </a:endParaRPr>
          </a:p>
          <a:p>
            <a:pPr indent="-334803" lvl="0" marL="457200" rtl="0" algn="just">
              <a:lnSpc>
                <a:spcPct val="105000"/>
              </a:lnSpc>
              <a:spcBef>
                <a:spcPts val="0"/>
              </a:spcBef>
              <a:spcAft>
                <a:spcPts val="0"/>
              </a:spcAft>
              <a:buClr>
                <a:srgbClr val="000000"/>
              </a:buClr>
              <a:buSzPts val="1673"/>
              <a:buFont typeface="Arial"/>
              <a:buChar char="●"/>
            </a:pPr>
            <a:r>
              <a:rPr lang="en-GB" sz="1672">
                <a:solidFill>
                  <a:srgbClr val="000000"/>
                </a:solidFill>
                <a:latin typeface="Arial"/>
                <a:ea typeface="Arial"/>
                <a:cs typeface="Arial"/>
                <a:sym typeface="Arial"/>
              </a:rPr>
              <a:t>Intelligent deterrents, including flashing lights, activate selectively to repel animals while conserving energy.  </a:t>
            </a:r>
            <a:endParaRPr sz="1672">
              <a:solidFill>
                <a:srgbClr val="000000"/>
              </a:solidFill>
              <a:latin typeface="Arial"/>
              <a:ea typeface="Arial"/>
              <a:cs typeface="Arial"/>
              <a:sym typeface="Arial"/>
            </a:endParaRPr>
          </a:p>
          <a:p>
            <a:pPr indent="0" lvl="0" marL="457200" rtl="0" algn="just">
              <a:lnSpc>
                <a:spcPct val="105000"/>
              </a:lnSpc>
              <a:spcBef>
                <a:spcPts val="0"/>
              </a:spcBef>
              <a:spcAft>
                <a:spcPts val="0"/>
              </a:spcAft>
              <a:buSzPts val="1018"/>
              <a:buNone/>
            </a:pPr>
            <a:r>
              <a:t/>
            </a:r>
            <a:endParaRPr sz="1672">
              <a:solidFill>
                <a:srgbClr val="000000"/>
              </a:solidFill>
              <a:latin typeface="Arial"/>
              <a:ea typeface="Arial"/>
              <a:cs typeface="Arial"/>
              <a:sym typeface="Arial"/>
            </a:endParaRPr>
          </a:p>
          <a:p>
            <a:pPr indent="-334803" lvl="0" marL="457200" rtl="0" algn="just">
              <a:lnSpc>
                <a:spcPct val="105000"/>
              </a:lnSpc>
              <a:spcBef>
                <a:spcPts val="0"/>
              </a:spcBef>
              <a:spcAft>
                <a:spcPts val="0"/>
              </a:spcAft>
              <a:buClr>
                <a:srgbClr val="000000"/>
              </a:buClr>
              <a:buSzPts val="1673"/>
              <a:buFont typeface="Arial"/>
              <a:buChar char="●"/>
            </a:pPr>
            <a:r>
              <a:rPr lang="en-GB" sz="1672">
                <a:solidFill>
                  <a:srgbClr val="000000"/>
                </a:solidFill>
                <a:latin typeface="Arial"/>
                <a:ea typeface="Arial"/>
                <a:cs typeface="Arial"/>
                <a:sym typeface="Arial"/>
              </a:rPr>
              <a:t>Solar-powered operation with backup ensures reliability, while a robust mesh network combining Wi-Fi/Bluetooth and LoRa delivers alerts via SMS across challenging terrains.</a:t>
            </a:r>
            <a:endParaRPr sz="1672">
              <a:solidFill>
                <a:srgbClr val="000000"/>
              </a:solidFill>
              <a:latin typeface="Arial"/>
              <a:ea typeface="Arial"/>
              <a:cs typeface="Arial"/>
              <a:sym typeface="Arial"/>
            </a:endParaRPr>
          </a:p>
          <a:p>
            <a:pPr indent="0" lvl="0" marL="0" rtl="0" algn="just">
              <a:lnSpc>
                <a:spcPct val="105000"/>
              </a:lnSpc>
              <a:spcBef>
                <a:spcPts val="0"/>
              </a:spcBef>
              <a:spcAft>
                <a:spcPts val="0"/>
              </a:spcAft>
              <a:buSzPts val="1018"/>
              <a:buNone/>
            </a:pPr>
            <a:r>
              <a:t/>
            </a:r>
            <a:endParaRPr sz="1387">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1230117" y="461358"/>
            <a:ext cx="6683700" cy="9606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rgbClr val="262626"/>
              </a:buClr>
              <a:buSzPts val="2700"/>
              <a:buFont typeface="Arial Rounded"/>
              <a:buNone/>
            </a:pPr>
            <a:r>
              <a:rPr b="1" lang="en-GB">
                <a:latin typeface="Arial Rounded"/>
                <a:ea typeface="Arial Rounded"/>
                <a:cs typeface="Arial Rounded"/>
                <a:sym typeface="Arial Rounded"/>
              </a:rPr>
              <a:t>INTRODUCTION</a:t>
            </a:r>
            <a:r>
              <a:rPr b="1" lang="en-GB"/>
              <a:t>:</a:t>
            </a:r>
            <a:endParaRPr b="1"/>
          </a:p>
        </p:txBody>
      </p:sp>
      <p:sp>
        <p:nvSpPr>
          <p:cNvPr id="82" name="Google Shape;82;p17"/>
          <p:cNvSpPr txBox="1"/>
          <p:nvPr>
            <p:ph idx="1" type="body"/>
          </p:nvPr>
        </p:nvSpPr>
        <p:spPr>
          <a:xfrm>
            <a:off x="469500" y="1233425"/>
            <a:ext cx="8205000" cy="3771000"/>
          </a:xfrm>
          <a:prstGeom prst="rect">
            <a:avLst/>
          </a:prstGeom>
          <a:noFill/>
          <a:ln>
            <a:noFill/>
          </a:ln>
        </p:spPr>
        <p:txBody>
          <a:bodyPr anchorCtr="0" anchor="t" bIns="34275" lIns="68575" spcFirstLastPara="1" rIns="68575" wrap="square" tIns="34275">
            <a:noAutofit/>
          </a:bodyPr>
          <a:lstStyle/>
          <a:p>
            <a:pPr indent="-273050" lvl="0" marL="254000" rtl="0" algn="just">
              <a:spcBef>
                <a:spcPts val="0"/>
              </a:spcBef>
              <a:spcAft>
                <a:spcPts val="0"/>
              </a:spcAft>
              <a:buClr>
                <a:srgbClr val="000000"/>
              </a:buClr>
              <a:buSzPts val="1700"/>
              <a:buChar char="●"/>
            </a:pPr>
            <a:r>
              <a:rPr lang="en-GB" sz="1700">
                <a:solidFill>
                  <a:srgbClr val="000000"/>
                </a:solidFill>
                <a:latin typeface="Arial"/>
                <a:ea typeface="Arial"/>
                <a:cs typeface="Arial"/>
                <a:sym typeface="Arial"/>
              </a:rPr>
              <a:t>Tribal communities in remote mountainous areas face threats from wildlife, including predators, elephants, and wild boars, affecting their safety and livelihood.</a:t>
            </a:r>
            <a:endParaRPr sz="1700">
              <a:solidFill>
                <a:srgbClr val="000000"/>
              </a:solidFill>
              <a:latin typeface="Arial"/>
              <a:ea typeface="Arial"/>
              <a:cs typeface="Arial"/>
              <a:sym typeface="Arial"/>
            </a:endParaRPr>
          </a:p>
          <a:p>
            <a:pPr indent="0" lvl="0" marL="254000" rtl="0" algn="just">
              <a:spcBef>
                <a:spcPts val="0"/>
              </a:spcBef>
              <a:spcAft>
                <a:spcPts val="0"/>
              </a:spcAft>
              <a:buNone/>
            </a:pPr>
            <a:r>
              <a:t/>
            </a:r>
            <a:endParaRPr sz="1700">
              <a:solidFill>
                <a:srgbClr val="000000"/>
              </a:solidFill>
              <a:latin typeface="Arial"/>
              <a:ea typeface="Arial"/>
              <a:cs typeface="Arial"/>
              <a:sym typeface="Arial"/>
            </a:endParaRPr>
          </a:p>
          <a:p>
            <a:pPr indent="-273050" lvl="0" marL="254000" rtl="0" algn="just">
              <a:spcBef>
                <a:spcPts val="0"/>
              </a:spcBef>
              <a:spcAft>
                <a:spcPts val="0"/>
              </a:spcAft>
              <a:buClr>
                <a:srgbClr val="000000"/>
              </a:buClr>
              <a:buSzPts val="1700"/>
              <a:buChar char="●"/>
            </a:pPr>
            <a:r>
              <a:rPr lang="en-GB" sz="1700">
                <a:solidFill>
                  <a:srgbClr val="000000"/>
                </a:solidFill>
                <a:latin typeface="Arial"/>
                <a:ea typeface="Arial"/>
                <a:cs typeface="Arial"/>
                <a:sym typeface="Arial"/>
              </a:rPr>
              <a:t>Proximity to forests and wildlife habitats makes them vulnerable, with current safety solutions being inefficient or unsuitable.</a:t>
            </a:r>
            <a:endParaRPr sz="1700">
              <a:solidFill>
                <a:srgbClr val="000000"/>
              </a:solidFill>
              <a:latin typeface="Arial"/>
              <a:ea typeface="Arial"/>
              <a:cs typeface="Arial"/>
              <a:sym typeface="Arial"/>
            </a:endParaRPr>
          </a:p>
          <a:p>
            <a:pPr indent="0" lvl="0" marL="254000" rtl="0" algn="just">
              <a:spcBef>
                <a:spcPts val="0"/>
              </a:spcBef>
              <a:spcAft>
                <a:spcPts val="0"/>
              </a:spcAft>
              <a:buNone/>
            </a:pPr>
            <a:r>
              <a:t/>
            </a:r>
            <a:endParaRPr sz="1700">
              <a:solidFill>
                <a:srgbClr val="000000"/>
              </a:solidFill>
              <a:latin typeface="Arial"/>
              <a:ea typeface="Arial"/>
              <a:cs typeface="Arial"/>
              <a:sym typeface="Arial"/>
            </a:endParaRPr>
          </a:p>
          <a:p>
            <a:pPr indent="-273050" lvl="0" marL="254000" rtl="0" algn="just">
              <a:spcBef>
                <a:spcPts val="0"/>
              </a:spcBef>
              <a:spcAft>
                <a:spcPts val="0"/>
              </a:spcAft>
              <a:buClr>
                <a:srgbClr val="000000"/>
              </a:buClr>
              <a:buSzPts val="1700"/>
              <a:buChar char="●"/>
            </a:pPr>
            <a:r>
              <a:rPr lang="en-GB" sz="1700">
                <a:solidFill>
                  <a:srgbClr val="000000"/>
                </a:solidFill>
                <a:latin typeface="Arial"/>
                <a:ea typeface="Arial"/>
                <a:cs typeface="Arial"/>
                <a:sym typeface="Arial"/>
              </a:rPr>
              <a:t>The proposed system leverages thermal imaging cameras, LIDAR , acoustic sensors, and AI to detect and prevent wildlife threats in real-tim</a:t>
            </a:r>
            <a:r>
              <a:rPr lang="en-GB" sz="1700">
                <a:solidFill>
                  <a:srgbClr val="000000"/>
                </a:solidFill>
                <a:latin typeface="Arial"/>
                <a:ea typeface="Arial"/>
                <a:cs typeface="Arial"/>
                <a:sym typeface="Arial"/>
              </a:rPr>
              <a:t>e.</a:t>
            </a:r>
            <a:endParaRPr sz="1700">
              <a:solidFill>
                <a:srgbClr val="000000"/>
              </a:solidFill>
              <a:latin typeface="Arial"/>
              <a:ea typeface="Arial"/>
              <a:cs typeface="Arial"/>
              <a:sym typeface="Arial"/>
            </a:endParaRPr>
          </a:p>
          <a:p>
            <a:pPr indent="0" lvl="0" marL="254000" rtl="0" algn="just">
              <a:spcBef>
                <a:spcPts val="0"/>
              </a:spcBef>
              <a:spcAft>
                <a:spcPts val="0"/>
              </a:spcAft>
              <a:buNone/>
            </a:pPr>
            <a:r>
              <a:t/>
            </a:r>
            <a:endParaRPr sz="1700">
              <a:solidFill>
                <a:srgbClr val="000000"/>
              </a:solidFill>
              <a:latin typeface="Arial"/>
              <a:ea typeface="Arial"/>
              <a:cs typeface="Arial"/>
              <a:sym typeface="Arial"/>
            </a:endParaRPr>
          </a:p>
          <a:p>
            <a:pPr indent="-273050" lvl="0" marL="254000" rtl="0" algn="just">
              <a:spcBef>
                <a:spcPts val="0"/>
              </a:spcBef>
              <a:spcAft>
                <a:spcPts val="0"/>
              </a:spcAft>
              <a:buClr>
                <a:srgbClr val="000000"/>
              </a:buClr>
              <a:buSzPts val="1700"/>
              <a:buChar char="●"/>
            </a:pPr>
            <a:r>
              <a:rPr lang="en-GB" sz="1700">
                <a:solidFill>
                  <a:srgbClr val="000000"/>
                </a:solidFill>
                <a:latin typeface="Arial"/>
                <a:ea typeface="Arial"/>
                <a:cs typeface="Arial"/>
                <a:sym typeface="Arial"/>
              </a:rPr>
              <a:t>Integration of solar power and a robust communication network ensures reliable operation in remote, off-grid regions.</a:t>
            </a:r>
            <a:endParaRPr sz="1700">
              <a:solidFill>
                <a:srgbClr val="000000"/>
              </a:solidFill>
              <a:latin typeface="Arial"/>
              <a:ea typeface="Arial"/>
              <a:cs typeface="Arial"/>
              <a:sym typeface="Arial"/>
            </a:endParaRPr>
          </a:p>
          <a:p>
            <a:pPr indent="0" lvl="0" marL="254000" rtl="0" algn="just">
              <a:spcBef>
                <a:spcPts val="0"/>
              </a:spcBef>
              <a:spcAft>
                <a:spcPts val="0"/>
              </a:spcAft>
              <a:buNone/>
            </a:pPr>
            <a:r>
              <a:t/>
            </a:r>
            <a:endParaRPr sz="14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1231051" y="511550"/>
            <a:ext cx="72888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Literature Survey :</a:t>
            </a:r>
            <a:endParaRPr>
              <a:latin typeface="Arial Rounded"/>
              <a:ea typeface="Arial Rounded"/>
              <a:cs typeface="Arial Rounded"/>
              <a:sym typeface="Arial Rounded"/>
            </a:endParaRPr>
          </a:p>
        </p:txBody>
      </p:sp>
      <p:pic>
        <p:nvPicPr>
          <p:cNvPr id="88" name="Google Shape;88;p18"/>
          <p:cNvPicPr preferRelativeResize="0"/>
          <p:nvPr/>
        </p:nvPicPr>
        <p:blipFill>
          <a:blip r:embed="rId3">
            <a:alphaModFix/>
          </a:blip>
          <a:stretch>
            <a:fillRect/>
          </a:stretch>
        </p:blipFill>
        <p:spPr>
          <a:xfrm>
            <a:off x="376475" y="1001450"/>
            <a:ext cx="8371201" cy="3964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1244851" y="359700"/>
            <a:ext cx="72888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Existing Systems:</a:t>
            </a:r>
            <a:endParaRPr>
              <a:latin typeface="Arial Rounded"/>
              <a:ea typeface="Arial Rounded"/>
              <a:cs typeface="Arial Rounded"/>
              <a:sym typeface="Arial Rounded"/>
            </a:endParaRPr>
          </a:p>
        </p:txBody>
      </p:sp>
      <p:sp>
        <p:nvSpPr>
          <p:cNvPr id="94" name="Google Shape;94;p19"/>
          <p:cNvSpPr txBox="1"/>
          <p:nvPr>
            <p:ph idx="1" type="body"/>
          </p:nvPr>
        </p:nvSpPr>
        <p:spPr>
          <a:xfrm>
            <a:off x="478375" y="473975"/>
            <a:ext cx="8309700" cy="3626400"/>
          </a:xfrm>
          <a:prstGeom prst="rect">
            <a:avLst/>
          </a:prstGeom>
        </p:spPr>
        <p:txBody>
          <a:bodyPr anchorCtr="0" anchor="t" bIns="34275" lIns="68575" spcFirstLastPara="1" rIns="68575" wrap="square" tIns="34275">
            <a:normAutofit fontScale="25000" lnSpcReduction="20000"/>
          </a:bodyPr>
          <a:lstStyle/>
          <a:p>
            <a:pPr indent="0" lvl="0" marL="457200" rtl="0" algn="just">
              <a:lnSpc>
                <a:spcPct val="150000"/>
              </a:lnSpc>
              <a:spcBef>
                <a:spcPts val="800"/>
              </a:spcBef>
              <a:spcAft>
                <a:spcPts val="0"/>
              </a:spcAft>
              <a:buNone/>
            </a:pPr>
            <a:r>
              <a:t/>
            </a:r>
            <a:endParaRPr sz="2500">
              <a:solidFill>
                <a:srgbClr val="000000"/>
              </a:solidFill>
              <a:latin typeface="Arial"/>
              <a:ea typeface="Arial"/>
              <a:cs typeface="Arial"/>
              <a:sym typeface="Arial"/>
            </a:endParaRPr>
          </a:p>
          <a:p>
            <a:pPr indent="0" lvl="0" marL="0" rtl="0" algn="l">
              <a:spcBef>
                <a:spcPts val="1400"/>
              </a:spcBef>
              <a:spcAft>
                <a:spcPts val="0"/>
              </a:spcAft>
              <a:buNone/>
            </a:pPr>
            <a:r>
              <a:t/>
            </a:r>
            <a:endParaRPr b="1" sz="2390">
              <a:solidFill>
                <a:srgbClr val="000000"/>
              </a:solidFill>
              <a:latin typeface="Arial"/>
              <a:ea typeface="Arial"/>
              <a:cs typeface="Arial"/>
              <a:sym typeface="Arial"/>
            </a:endParaRPr>
          </a:p>
          <a:p>
            <a:pPr indent="-336992" lvl="0" marL="457200" rtl="0" algn="l">
              <a:lnSpc>
                <a:spcPct val="200000"/>
              </a:lnSpc>
              <a:spcBef>
                <a:spcPts val="400"/>
              </a:spcBef>
              <a:spcAft>
                <a:spcPts val="0"/>
              </a:spcAft>
              <a:buClr>
                <a:srgbClr val="000000"/>
              </a:buClr>
              <a:buSzPct val="100000"/>
              <a:buFont typeface="Arial"/>
              <a:buChar char="●"/>
            </a:pPr>
            <a:r>
              <a:rPr lang="en-GB" sz="6827">
                <a:solidFill>
                  <a:srgbClr val="000000"/>
                </a:solidFill>
                <a:latin typeface="Arial"/>
                <a:ea typeface="Arial"/>
                <a:cs typeface="Arial"/>
                <a:sym typeface="Arial"/>
              </a:rPr>
              <a:t>Traditional methods such as manual patrolling, fences, and fire torches are commonly used.</a:t>
            </a:r>
            <a:endParaRPr sz="6827">
              <a:solidFill>
                <a:srgbClr val="000000"/>
              </a:solidFill>
              <a:latin typeface="Arial"/>
              <a:ea typeface="Arial"/>
              <a:cs typeface="Arial"/>
              <a:sym typeface="Arial"/>
            </a:endParaRPr>
          </a:p>
          <a:p>
            <a:pPr indent="-336992" lvl="0" marL="457200" rtl="0" algn="l">
              <a:lnSpc>
                <a:spcPct val="200000"/>
              </a:lnSpc>
              <a:spcBef>
                <a:spcPts val="0"/>
              </a:spcBef>
              <a:spcAft>
                <a:spcPts val="0"/>
              </a:spcAft>
              <a:buClr>
                <a:srgbClr val="000000"/>
              </a:buClr>
              <a:buSzPct val="100000"/>
              <a:buFont typeface="Arial"/>
              <a:buChar char="●"/>
            </a:pPr>
            <a:r>
              <a:rPr lang="en-GB" sz="6827">
                <a:solidFill>
                  <a:srgbClr val="000000"/>
                </a:solidFill>
                <a:latin typeface="Arial"/>
                <a:ea typeface="Arial"/>
                <a:cs typeface="Arial"/>
                <a:sym typeface="Arial"/>
              </a:rPr>
              <a:t>These approaches are labor-intensive, inefficient, and unable to provide real-time alerts.</a:t>
            </a:r>
            <a:endParaRPr sz="6827">
              <a:solidFill>
                <a:srgbClr val="000000"/>
              </a:solidFill>
              <a:latin typeface="Arial"/>
              <a:ea typeface="Arial"/>
              <a:cs typeface="Arial"/>
              <a:sym typeface="Arial"/>
            </a:endParaRPr>
          </a:p>
          <a:p>
            <a:pPr indent="-336992" lvl="0" marL="457200" rtl="0" algn="l">
              <a:lnSpc>
                <a:spcPct val="200000"/>
              </a:lnSpc>
              <a:spcBef>
                <a:spcPts val="0"/>
              </a:spcBef>
              <a:spcAft>
                <a:spcPts val="0"/>
              </a:spcAft>
              <a:buClr>
                <a:srgbClr val="000000"/>
              </a:buClr>
              <a:buSzPct val="100000"/>
              <a:buFont typeface="Arial"/>
              <a:buChar char="●"/>
            </a:pPr>
            <a:r>
              <a:rPr lang="en-GB" sz="6827">
                <a:solidFill>
                  <a:srgbClr val="000000"/>
                </a:solidFill>
                <a:latin typeface="Arial"/>
                <a:ea typeface="Arial"/>
                <a:cs typeface="Arial"/>
                <a:sym typeface="Arial"/>
              </a:rPr>
              <a:t>Basic animal deterrent mechanisms often fail to prevent wild animal intrusions.</a:t>
            </a:r>
            <a:endParaRPr sz="6827">
              <a:solidFill>
                <a:srgbClr val="000000"/>
              </a:solidFill>
              <a:latin typeface="Arial"/>
              <a:ea typeface="Arial"/>
              <a:cs typeface="Arial"/>
              <a:sym typeface="Arial"/>
            </a:endParaRPr>
          </a:p>
          <a:p>
            <a:pPr indent="-336992" lvl="0" marL="457200" rtl="0" algn="l">
              <a:lnSpc>
                <a:spcPct val="200000"/>
              </a:lnSpc>
              <a:spcBef>
                <a:spcPts val="0"/>
              </a:spcBef>
              <a:spcAft>
                <a:spcPts val="0"/>
              </a:spcAft>
              <a:buClr>
                <a:srgbClr val="000000"/>
              </a:buClr>
              <a:buSzPct val="100000"/>
              <a:buFont typeface="Arial"/>
              <a:buChar char="●"/>
            </a:pPr>
            <a:r>
              <a:rPr lang="en-GB" sz="6827">
                <a:solidFill>
                  <a:srgbClr val="000000"/>
                </a:solidFill>
                <a:latin typeface="Arial"/>
                <a:ea typeface="Arial"/>
                <a:cs typeface="Arial"/>
                <a:sym typeface="Arial"/>
              </a:rPr>
              <a:t>Communication in remote tribal regions is limited, delaying emergency responses.</a:t>
            </a:r>
            <a:endParaRPr sz="6827">
              <a:solidFill>
                <a:srgbClr val="000000"/>
              </a:solidFill>
              <a:latin typeface="Arial"/>
              <a:ea typeface="Arial"/>
              <a:cs typeface="Arial"/>
              <a:sym typeface="Arial"/>
            </a:endParaRPr>
          </a:p>
          <a:p>
            <a:pPr indent="-336992" lvl="0" marL="457200" rtl="0" algn="l">
              <a:lnSpc>
                <a:spcPct val="200000"/>
              </a:lnSpc>
              <a:spcBef>
                <a:spcPts val="0"/>
              </a:spcBef>
              <a:spcAft>
                <a:spcPts val="0"/>
              </a:spcAft>
              <a:buClr>
                <a:srgbClr val="000000"/>
              </a:buClr>
              <a:buSzPct val="100000"/>
              <a:buFont typeface="Arial"/>
              <a:buChar char="●"/>
            </a:pPr>
            <a:r>
              <a:rPr lang="en-GB" sz="6827">
                <a:solidFill>
                  <a:srgbClr val="000000"/>
                </a:solidFill>
                <a:latin typeface="Arial"/>
                <a:ea typeface="Arial"/>
                <a:cs typeface="Arial"/>
                <a:sym typeface="Arial"/>
              </a:rPr>
              <a:t>Current systems lack automation, accurate detection, and reliable power sources.</a:t>
            </a:r>
            <a:endParaRPr sz="6827">
              <a:solidFill>
                <a:srgbClr val="000000"/>
              </a:solidFill>
              <a:latin typeface="Arial"/>
              <a:ea typeface="Arial"/>
              <a:cs typeface="Arial"/>
              <a:sym typeface="Arial"/>
            </a:endParaRPr>
          </a:p>
          <a:p>
            <a:pPr indent="0" lvl="0" marL="457200" rtl="0" algn="just">
              <a:lnSpc>
                <a:spcPct val="100000"/>
              </a:lnSpc>
              <a:spcBef>
                <a:spcPts val="1200"/>
              </a:spcBef>
              <a:spcAft>
                <a:spcPts val="0"/>
              </a:spcAft>
              <a:buNone/>
            </a:pPr>
            <a:r>
              <a:t/>
            </a:r>
            <a:endParaRPr b="1" sz="5700">
              <a:solidFill>
                <a:srgbClr val="000000"/>
              </a:solidFill>
              <a:latin typeface="Arial"/>
              <a:ea typeface="Arial"/>
              <a:cs typeface="Arial"/>
              <a:sym typeface="Arial"/>
            </a:endParaRPr>
          </a:p>
          <a:p>
            <a:pPr indent="0" lvl="0" marL="457200" rtl="0" algn="just">
              <a:lnSpc>
                <a:spcPct val="150000"/>
              </a:lnSpc>
              <a:spcBef>
                <a:spcPts val="800"/>
              </a:spcBef>
              <a:spcAft>
                <a:spcPts val="0"/>
              </a:spcAft>
              <a:buNone/>
            </a:pPr>
            <a:r>
              <a:t/>
            </a:r>
            <a:endParaRPr sz="2500">
              <a:solidFill>
                <a:srgbClr val="000000"/>
              </a:solidFill>
              <a:latin typeface="Arial"/>
              <a:ea typeface="Arial"/>
              <a:cs typeface="Arial"/>
              <a:sym typeface="Arial"/>
            </a:endParaRPr>
          </a:p>
          <a:p>
            <a:pPr indent="0" lvl="0" marL="0" rtl="0" algn="just">
              <a:lnSpc>
                <a:spcPct val="150000"/>
              </a:lnSpc>
              <a:spcBef>
                <a:spcPts val="800"/>
              </a:spcBef>
              <a:spcAft>
                <a:spcPts val="0"/>
              </a:spcAft>
              <a:buNone/>
            </a:pPr>
            <a:r>
              <a:t/>
            </a:r>
            <a:endParaRPr>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1209300" y="522450"/>
            <a:ext cx="7934700" cy="960600"/>
          </a:xfrm>
          <a:prstGeom prst="rect">
            <a:avLst/>
          </a:prstGeom>
        </p:spPr>
        <p:txBody>
          <a:bodyPr anchorCtr="0" anchor="t" bIns="34275" lIns="68575" spcFirstLastPara="1" rIns="68575" wrap="square" tIns="34275">
            <a:normAutofit fontScale="90000"/>
          </a:bodyPr>
          <a:lstStyle/>
          <a:p>
            <a:pPr indent="0" lvl="0" marL="0" rtl="0" algn="l">
              <a:spcBef>
                <a:spcPts val="0"/>
              </a:spcBef>
              <a:spcAft>
                <a:spcPts val="0"/>
              </a:spcAft>
              <a:buNone/>
            </a:pPr>
            <a:r>
              <a:rPr lang="en-GB">
                <a:latin typeface="Arial Rounded"/>
                <a:ea typeface="Arial Rounded"/>
                <a:cs typeface="Arial Rounded"/>
                <a:sym typeface="Arial Rounded"/>
              </a:rPr>
              <a:t>Challenges and Issues in the Existing System:</a:t>
            </a:r>
            <a:endParaRPr>
              <a:latin typeface="Arial Rounded"/>
              <a:ea typeface="Arial Rounded"/>
              <a:cs typeface="Arial Rounded"/>
              <a:sym typeface="Arial Rounded"/>
            </a:endParaRPr>
          </a:p>
        </p:txBody>
      </p:sp>
      <p:sp>
        <p:nvSpPr>
          <p:cNvPr id="100" name="Google Shape;100;p20"/>
          <p:cNvSpPr txBox="1"/>
          <p:nvPr>
            <p:ph idx="1" type="body"/>
          </p:nvPr>
        </p:nvSpPr>
        <p:spPr>
          <a:xfrm>
            <a:off x="542725" y="1167900"/>
            <a:ext cx="8085900" cy="3914700"/>
          </a:xfrm>
          <a:prstGeom prst="rect">
            <a:avLst/>
          </a:prstGeom>
        </p:spPr>
        <p:txBody>
          <a:bodyPr anchorCtr="0" anchor="t" bIns="34275" lIns="68575" spcFirstLastPara="1" rIns="68575" wrap="square" tIns="34275">
            <a:noAutofit/>
          </a:bodyPr>
          <a:lstStyle/>
          <a:p>
            <a:pPr indent="-342900" lvl="0" marL="457200" rtl="0" algn="just">
              <a:spcBef>
                <a:spcPts val="800"/>
              </a:spcBef>
              <a:spcAft>
                <a:spcPts val="0"/>
              </a:spcAft>
              <a:buClr>
                <a:srgbClr val="262626"/>
              </a:buClr>
              <a:buSzPts val="1800"/>
              <a:buFont typeface="Arial"/>
              <a:buChar char="●"/>
            </a:pPr>
            <a:r>
              <a:rPr b="1" lang="en-GB">
                <a:solidFill>
                  <a:srgbClr val="262626"/>
                </a:solidFill>
                <a:latin typeface="Arial"/>
                <a:ea typeface="Arial"/>
                <a:cs typeface="Arial"/>
                <a:sym typeface="Arial"/>
              </a:rPr>
              <a:t>Lack of Early Detection</a:t>
            </a:r>
            <a:r>
              <a:rPr lang="en-GB">
                <a:solidFill>
                  <a:srgbClr val="262626"/>
                </a:solidFill>
                <a:latin typeface="Arial"/>
                <a:ea typeface="Arial"/>
                <a:cs typeface="Arial"/>
                <a:sym typeface="Arial"/>
              </a:rPr>
              <a:t> – Traditional methods fail to detect wildlife threats in real time.</a:t>
            </a:r>
            <a:endParaRPr>
              <a:solidFill>
                <a:srgbClr val="262626"/>
              </a:solidFill>
              <a:latin typeface="Arial"/>
              <a:ea typeface="Arial"/>
              <a:cs typeface="Arial"/>
              <a:sym typeface="Arial"/>
            </a:endParaRPr>
          </a:p>
          <a:p>
            <a:pPr indent="-342900" lvl="0" marL="457200" rtl="0" algn="just">
              <a:spcBef>
                <a:spcPts val="0"/>
              </a:spcBef>
              <a:spcAft>
                <a:spcPts val="0"/>
              </a:spcAft>
              <a:buClr>
                <a:srgbClr val="262626"/>
              </a:buClr>
              <a:buSzPts val="1800"/>
              <a:buFont typeface="Arial"/>
              <a:buChar char="●"/>
            </a:pPr>
            <a:r>
              <a:rPr b="1" lang="en-GB">
                <a:solidFill>
                  <a:srgbClr val="262626"/>
                </a:solidFill>
                <a:latin typeface="Arial"/>
                <a:ea typeface="Arial"/>
                <a:cs typeface="Arial"/>
                <a:sym typeface="Arial"/>
              </a:rPr>
              <a:t>High False Alarms </a:t>
            </a:r>
            <a:r>
              <a:rPr lang="en-GB">
                <a:solidFill>
                  <a:srgbClr val="262626"/>
                </a:solidFill>
                <a:latin typeface="Arial"/>
                <a:ea typeface="Arial"/>
                <a:cs typeface="Arial"/>
                <a:sym typeface="Arial"/>
              </a:rPr>
              <a:t>– Inefficient detection systems lead to unnecessary panic and resource wastage.</a:t>
            </a:r>
            <a:endParaRPr>
              <a:solidFill>
                <a:srgbClr val="262626"/>
              </a:solidFill>
              <a:latin typeface="Arial"/>
              <a:ea typeface="Arial"/>
              <a:cs typeface="Arial"/>
              <a:sym typeface="Arial"/>
            </a:endParaRPr>
          </a:p>
          <a:p>
            <a:pPr indent="-342900" lvl="0" marL="457200" rtl="0" algn="just">
              <a:spcBef>
                <a:spcPts val="0"/>
              </a:spcBef>
              <a:spcAft>
                <a:spcPts val="0"/>
              </a:spcAft>
              <a:buClr>
                <a:srgbClr val="262626"/>
              </a:buClr>
              <a:buSzPts val="1800"/>
              <a:buFont typeface="Arial"/>
              <a:buChar char="●"/>
            </a:pPr>
            <a:r>
              <a:rPr b="1" lang="en-GB">
                <a:solidFill>
                  <a:srgbClr val="262626"/>
                </a:solidFill>
                <a:latin typeface="Arial"/>
                <a:ea typeface="Arial"/>
                <a:cs typeface="Arial"/>
                <a:sym typeface="Arial"/>
              </a:rPr>
              <a:t>Limited Communication</a:t>
            </a:r>
            <a:r>
              <a:rPr lang="en-GB">
                <a:solidFill>
                  <a:srgbClr val="262626"/>
                </a:solidFill>
                <a:latin typeface="Arial"/>
                <a:ea typeface="Arial"/>
                <a:cs typeface="Arial"/>
                <a:sym typeface="Arial"/>
              </a:rPr>
              <a:t> – Poor network coverage in remote areas delays emergency response.</a:t>
            </a:r>
            <a:endParaRPr>
              <a:solidFill>
                <a:srgbClr val="262626"/>
              </a:solidFill>
              <a:latin typeface="Arial"/>
              <a:ea typeface="Arial"/>
              <a:cs typeface="Arial"/>
              <a:sym typeface="Arial"/>
            </a:endParaRPr>
          </a:p>
          <a:p>
            <a:pPr indent="-342900" lvl="0" marL="457200" rtl="0" algn="just">
              <a:spcBef>
                <a:spcPts val="0"/>
              </a:spcBef>
              <a:spcAft>
                <a:spcPts val="0"/>
              </a:spcAft>
              <a:buClr>
                <a:srgbClr val="262626"/>
              </a:buClr>
              <a:buSzPts val="1800"/>
              <a:buFont typeface="Arial"/>
              <a:buChar char="●"/>
            </a:pPr>
            <a:r>
              <a:rPr b="1" lang="en-GB">
                <a:solidFill>
                  <a:srgbClr val="262626"/>
                </a:solidFill>
                <a:latin typeface="Arial"/>
                <a:ea typeface="Arial"/>
                <a:cs typeface="Arial"/>
                <a:sym typeface="Arial"/>
              </a:rPr>
              <a:t>Power Constraints</a:t>
            </a:r>
            <a:r>
              <a:rPr lang="en-GB">
                <a:solidFill>
                  <a:srgbClr val="262626"/>
                </a:solidFill>
                <a:latin typeface="Arial"/>
                <a:ea typeface="Arial"/>
                <a:cs typeface="Arial"/>
                <a:sym typeface="Arial"/>
              </a:rPr>
              <a:t> – Dependency on unreliable power sources affects system operation.</a:t>
            </a:r>
            <a:endParaRPr>
              <a:solidFill>
                <a:srgbClr val="262626"/>
              </a:solidFill>
              <a:latin typeface="Arial"/>
              <a:ea typeface="Arial"/>
              <a:cs typeface="Arial"/>
              <a:sym typeface="Arial"/>
            </a:endParaRPr>
          </a:p>
          <a:p>
            <a:pPr indent="-342900" lvl="0" marL="457200" rtl="0" algn="just">
              <a:spcBef>
                <a:spcPts val="0"/>
              </a:spcBef>
              <a:spcAft>
                <a:spcPts val="0"/>
              </a:spcAft>
              <a:buClr>
                <a:srgbClr val="262626"/>
              </a:buClr>
              <a:buSzPts val="1800"/>
              <a:buFont typeface="Arial"/>
              <a:buChar char="●"/>
            </a:pPr>
            <a:r>
              <a:rPr b="1" lang="en-GB">
                <a:solidFill>
                  <a:srgbClr val="262626"/>
                </a:solidFill>
                <a:latin typeface="Arial"/>
                <a:ea typeface="Arial"/>
                <a:cs typeface="Arial"/>
                <a:sym typeface="Arial"/>
              </a:rPr>
              <a:t>Ineffective Deterrents</a:t>
            </a:r>
            <a:r>
              <a:rPr lang="en-GB">
                <a:solidFill>
                  <a:srgbClr val="262626"/>
                </a:solidFill>
                <a:latin typeface="Arial"/>
                <a:ea typeface="Arial"/>
                <a:cs typeface="Arial"/>
                <a:sym typeface="Arial"/>
              </a:rPr>
              <a:t> – Conventional deterrent methods often fail to prevent animal intrusion.</a:t>
            </a:r>
            <a:endParaRPr>
              <a:solidFill>
                <a:srgbClr val="262626"/>
              </a:solidFill>
              <a:latin typeface="Arial"/>
              <a:ea typeface="Arial"/>
              <a:cs typeface="Arial"/>
              <a:sym typeface="Arial"/>
            </a:endParaRPr>
          </a:p>
          <a:p>
            <a:pPr indent="-342900" lvl="0" marL="457200" rtl="0" algn="just">
              <a:spcBef>
                <a:spcPts val="0"/>
              </a:spcBef>
              <a:spcAft>
                <a:spcPts val="0"/>
              </a:spcAft>
              <a:buClr>
                <a:srgbClr val="262626"/>
              </a:buClr>
              <a:buSzPts val="1800"/>
              <a:buFont typeface="Arial"/>
              <a:buChar char="●"/>
            </a:pPr>
            <a:r>
              <a:rPr b="1" lang="en-GB">
                <a:solidFill>
                  <a:srgbClr val="262626"/>
                </a:solidFill>
                <a:latin typeface="Arial"/>
                <a:ea typeface="Arial"/>
                <a:cs typeface="Arial"/>
                <a:sym typeface="Arial"/>
              </a:rPr>
              <a:t>Manual Monitoring</a:t>
            </a:r>
            <a:r>
              <a:rPr lang="en-GB">
                <a:solidFill>
                  <a:srgbClr val="262626"/>
                </a:solidFill>
                <a:latin typeface="Arial"/>
                <a:ea typeface="Arial"/>
                <a:cs typeface="Arial"/>
                <a:sym typeface="Arial"/>
              </a:rPr>
              <a:t> – Requires constant human intervention, increasing risks and inefficiency.</a:t>
            </a:r>
            <a:endParaRPr>
              <a:solidFill>
                <a:srgbClr val="26262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1368375" y="511550"/>
            <a:ext cx="6683700" cy="6687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SYSTEM ARCHITECTURE:</a:t>
            </a:r>
            <a:endParaRPr>
              <a:latin typeface="Arial Rounded"/>
              <a:ea typeface="Arial Rounded"/>
              <a:cs typeface="Arial Rounded"/>
              <a:sym typeface="Arial Rounded"/>
            </a:endParaRPr>
          </a:p>
        </p:txBody>
      </p:sp>
      <p:pic>
        <p:nvPicPr>
          <p:cNvPr id="106" name="Google Shape;106;p21"/>
          <p:cNvPicPr preferRelativeResize="0"/>
          <p:nvPr/>
        </p:nvPicPr>
        <p:blipFill>
          <a:blip r:embed="rId3">
            <a:alphaModFix/>
          </a:blip>
          <a:stretch>
            <a:fillRect/>
          </a:stretch>
        </p:blipFill>
        <p:spPr>
          <a:xfrm>
            <a:off x="387550" y="1056675"/>
            <a:ext cx="8589050" cy="3970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2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1281369" y="489808"/>
            <a:ext cx="66837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LIST OF MODULES:</a:t>
            </a:r>
            <a:endParaRPr>
              <a:latin typeface="Arial Rounded"/>
              <a:ea typeface="Arial Rounded"/>
              <a:cs typeface="Arial Rounded"/>
              <a:sym typeface="Arial Rounded"/>
            </a:endParaRPr>
          </a:p>
        </p:txBody>
      </p:sp>
      <p:sp>
        <p:nvSpPr>
          <p:cNvPr id="117" name="Google Shape;117;p23"/>
          <p:cNvSpPr txBox="1"/>
          <p:nvPr>
            <p:ph idx="1" type="body"/>
          </p:nvPr>
        </p:nvSpPr>
        <p:spPr>
          <a:xfrm>
            <a:off x="420950" y="1298550"/>
            <a:ext cx="8252100" cy="3609600"/>
          </a:xfrm>
          <a:prstGeom prst="rect">
            <a:avLst/>
          </a:prstGeom>
        </p:spPr>
        <p:txBody>
          <a:bodyPr anchorCtr="0" anchor="t" bIns="34275" lIns="68575" spcFirstLastPara="1" rIns="68575" wrap="square" tIns="34275">
            <a:noAutofit/>
          </a:bodyPr>
          <a:lstStyle/>
          <a:p>
            <a:pPr indent="-336550" lvl="0" marL="457200" rtl="0" algn="l">
              <a:lnSpc>
                <a:spcPct val="150000"/>
              </a:lnSpc>
              <a:spcBef>
                <a:spcPts val="800"/>
              </a:spcBef>
              <a:spcAft>
                <a:spcPts val="0"/>
              </a:spcAft>
              <a:buClr>
                <a:srgbClr val="262626"/>
              </a:buClr>
              <a:buSzPts val="1700"/>
              <a:buFont typeface="Arial"/>
              <a:buChar char="●"/>
            </a:pPr>
            <a:r>
              <a:rPr lang="en-GB" sz="2100">
                <a:solidFill>
                  <a:srgbClr val="262626"/>
                </a:solidFill>
                <a:latin typeface="Arial"/>
                <a:ea typeface="Arial"/>
                <a:cs typeface="Arial"/>
                <a:sym typeface="Arial"/>
              </a:rPr>
              <a:t>Wildlife Detection Module (Thermal Imaging Camera,LIDAR, Acoustic sensors).</a:t>
            </a:r>
            <a:endParaRPr sz="2100">
              <a:solidFill>
                <a:srgbClr val="262626"/>
              </a:solidFill>
              <a:latin typeface="Arial"/>
              <a:ea typeface="Arial"/>
              <a:cs typeface="Arial"/>
              <a:sym typeface="Arial"/>
            </a:endParaRPr>
          </a:p>
          <a:p>
            <a:pPr indent="-336550" lvl="0" marL="457200" rtl="0" algn="l">
              <a:lnSpc>
                <a:spcPct val="150000"/>
              </a:lnSpc>
              <a:spcBef>
                <a:spcPts val="0"/>
              </a:spcBef>
              <a:spcAft>
                <a:spcPts val="0"/>
              </a:spcAft>
              <a:buClr>
                <a:srgbClr val="262626"/>
              </a:buClr>
              <a:buSzPts val="1700"/>
              <a:buFont typeface="Arial"/>
              <a:buChar char="●"/>
            </a:pPr>
            <a:r>
              <a:rPr lang="en-GB" sz="2100">
                <a:solidFill>
                  <a:srgbClr val="262626"/>
                </a:solidFill>
                <a:latin typeface="Arial"/>
                <a:ea typeface="Arial"/>
                <a:cs typeface="Arial"/>
                <a:sym typeface="Arial"/>
              </a:rPr>
              <a:t>AI-Based Classification Module (YOLO for image classification , CNN for sound classification).</a:t>
            </a:r>
            <a:endParaRPr sz="2100">
              <a:solidFill>
                <a:srgbClr val="262626"/>
              </a:solidFill>
              <a:latin typeface="Arial"/>
              <a:ea typeface="Arial"/>
              <a:cs typeface="Arial"/>
              <a:sym typeface="Arial"/>
            </a:endParaRPr>
          </a:p>
          <a:p>
            <a:pPr indent="-336550" lvl="0" marL="457200" rtl="0" algn="l">
              <a:lnSpc>
                <a:spcPct val="150000"/>
              </a:lnSpc>
              <a:spcBef>
                <a:spcPts val="0"/>
              </a:spcBef>
              <a:spcAft>
                <a:spcPts val="0"/>
              </a:spcAft>
              <a:buClr>
                <a:srgbClr val="262626"/>
              </a:buClr>
              <a:buSzPts val="1700"/>
              <a:buFont typeface="Arial"/>
              <a:buChar char="●"/>
            </a:pPr>
            <a:r>
              <a:rPr lang="en-GB" sz="2100">
                <a:solidFill>
                  <a:srgbClr val="262626"/>
                </a:solidFill>
                <a:latin typeface="Arial"/>
                <a:ea typeface="Arial"/>
                <a:cs typeface="Arial"/>
                <a:sym typeface="Arial"/>
              </a:rPr>
              <a:t>Communication Module (LoRa-based mesh network).</a:t>
            </a:r>
            <a:endParaRPr sz="2100">
              <a:solidFill>
                <a:srgbClr val="262626"/>
              </a:solidFill>
              <a:latin typeface="Arial"/>
              <a:ea typeface="Arial"/>
              <a:cs typeface="Arial"/>
              <a:sym typeface="Arial"/>
            </a:endParaRPr>
          </a:p>
          <a:p>
            <a:pPr indent="-336550" lvl="0" marL="457200" rtl="0" algn="l">
              <a:lnSpc>
                <a:spcPct val="150000"/>
              </a:lnSpc>
              <a:spcBef>
                <a:spcPts val="0"/>
              </a:spcBef>
              <a:spcAft>
                <a:spcPts val="0"/>
              </a:spcAft>
              <a:buClr>
                <a:srgbClr val="262626"/>
              </a:buClr>
              <a:buSzPts val="1700"/>
              <a:buFont typeface="Arial"/>
              <a:buChar char="●"/>
            </a:pPr>
            <a:r>
              <a:rPr lang="en-GB" sz="2100">
                <a:solidFill>
                  <a:srgbClr val="262626"/>
                </a:solidFill>
                <a:latin typeface="Arial"/>
                <a:ea typeface="Arial"/>
                <a:cs typeface="Arial"/>
                <a:sym typeface="Arial"/>
              </a:rPr>
              <a:t>Alert System (Buzzer, SMS alerts, Speaker System).</a:t>
            </a:r>
            <a:endParaRPr sz="2100">
              <a:solidFill>
                <a:srgbClr val="262626"/>
              </a:solidFill>
              <a:latin typeface="Arial"/>
              <a:ea typeface="Arial"/>
              <a:cs typeface="Arial"/>
              <a:sym typeface="Arial"/>
            </a:endParaRPr>
          </a:p>
          <a:p>
            <a:pPr indent="-336550" lvl="0" marL="457200" rtl="0" algn="l">
              <a:lnSpc>
                <a:spcPct val="150000"/>
              </a:lnSpc>
              <a:spcBef>
                <a:spcPts val="0"/>
              </a:spcBef>
              <a:spcAft>
                <a:spcPts val="0"/>
              </a:spcAft>
              <a:buClr>
                <a:srgbClr val="262626"/>
              </a:buClr>
              <a:buSzPts val="1700"/>
              <a:buFont typeface="Arial"/>
              <a:buChar char="●"/>
            </a:pPr>
            <a:r>
              <a:rPr lang="en-GB" sz="2100">
                <a:solidFill>
                  <a:srgbClr val="262626"/>
                </a:solidFill>
                <a:latin typeface="Arial"/>
                <a:ea typeface="Arial"/>
                <a:cs typeface="Arial"/>
                <a:sym typeface="Arial"/>
              </a:rPr>
              <a:t>Power Management Module (Solar + Battery System).</a:t>
            </a:r>
            <a:endParaRPr sz="2100">
              <a:solidFill>
                <a:srgbClr val="26262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1230144" y="468108"/>
            <a:ext cx="66837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Modules explanation:</a:t>
            </a:r>
            <a:endParaRPr>
              <a:latin typeface="Arial Rounded"/>
              <a:ea typeface="Arial Rounded"/>
              <a:cs typeface="Arial Rounded"/>
              <a:sym typeface="Arial Rounded"/>
            </a:endParaRPr>
          </a:p>
        </p:txBody>
      </p:sp>
      <p:sp>
        <p:nvSpPr>
          <p:cNvPr id="123" name="Google Shape;123;p24"/>
          <p:cNvSpPr txBox="1"/>
          <p:nvPr>
            <p:ph idx="1" type="body"/>
          </p:nvPr>
        </p:nvSpPr>
        <p:spPr>
          <a:xfrm>
            <a:off x="565600" y="1347350"/>
            <a:ext cx="8114100" cy="34740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en-GB" sz="1281">
                <a:solidFill>
                  <a:srgbClr val="262626"/>
                </a:solidFill>
                <a:latin typeface="Arial"/>
                <a:ea typeface="Arial"/>
                <a:cs typeface="Arial"/>
                <a:sym typeface="Arial"/>
              </a:rPr>
              <a:t>1.Wildlife Detection Module</a:t>
            </a:r>
            <a:endParaRPr b="1" sz="1281">
              <a:solidFill>
                <a:srgbClr val="262626"/>
              </a:solidFill>
              <a:latin typeface="Arial"/>
              <a:ea typeface="Arial"/>
              <a:cs typeface="Arial"/>
              <a:sym typeface="Arial"/>
            </a:endParaRPr>
          </a:p>
          <a:p>
            <a:pPr indent="0" lvl="0" marL="0" rtl="0" algn="l">
              <a:spcBef>
                <a:spcPts val="800"/>
              </a:spcBef>
              <a:spcAft>
                <a:spcPts val="0"/>
              </a:spcAft>
              <a:buNone/>
            </a:pPr>
            <a:r>
              <a:rPr b="1" lang="en-GB" sz="1081">
                <a:solidFill>
                  <a:srgbClr val="262626"/>
                </a:solidFill>
                <a:latin typeface="Arial"/>
                <a:ea typeface="Arial"/>
                <a:cs typeface="Arial"/>
                <a:sym typeface="Arial"/>
              </a:rPr>
              <a:t>Components</a:t>
            </a:r>
            <a:r>
              <a:rPr lang="en-GB" sz="1081">
                <a:solidFill>
                  <a:srgbClr val="262626"/>
                </a:solidFill>
                <a:latin typeface="Arial"/>
                <a:ea typeface="Arial"/>
                <a:cs typeface="Arial"/>
                <a:sym typeface="Arial"/>
              </a:rPr>
              <a:t>: LiDAR sensors, Acoustic sensors</a:t>
            </a:r>
            <a:endParaRPr sz="1081">
              <a:solidFill>
                <a:srgbClr val="262626"/>
              </a:solidFill>
              <a:latin typeface="Arial"/>
              <a:ea typeface="Arial"/>
              <a:cs typeface="Arial"/>
              <a:sym typeface="Arial"/>
            </a:endParaRPr>
          </a:p>
          <a:p>
            <a:pPr indent="0" lvl="0" marL="0" rtl="0" algn="l">
              <a:spcBef>
                <a:spcPts val="800"/>
              </a:spcBef>
              <a:spcAft>
                <a:spcPts val="0"/>
              </a:spcAft>
              <a:buNone/>
            </a:pPr>
            <a:r>
              <a:rPr b="1" lang="en-GB" sz="1081">
                <a:solidFill>
                  <a:srgbClr val="262626"/>
                </a:solidFill>
                <a:latin typeface="Arial"/>
                <a:ea typeface="Arial"/>
                <a:cs typeface="Arial"/>
                <a:sym typeface="Arial"/>
              </a:rPr>
              <a:t>Function:</a:t>
            </a:r>
            <a:r>
              <a:rPr lang="en-GB" sz="1081">
                <a:solidFill>
                  <a:srgbClr val="262626"/>
                </a:solidFill>
                <a:latin typeface="Arial"/>
                <a:ea typeface="Arial"/>
                <a:cs typeface="Arial"/>
                <a:sym typeface="Arial"/>
              </a:rPr>
              <a:t> Detects the presence and movement of wild animals by capturing data such as distance, speed, and audio signals.</a:t>
            </a:r>
            <a:endParaRPr sz="1081">
              <a:solidFill>
                <a:srgbClr val="262626"/>
              </a:solidFill>
              <a:latin typeface="Arial"/>
              <a:ea typeface="Arial"/>
              <a:cs typeface="Arial"/>
              <a:sym typeface="Arial"/>
            </a:endParaRPr>
          </a:p>
          <a:p>
            <a:pPr indent="0" lvl="0" marL="0" rtl="0" algn="l">
              <a:spcBef>
                <a:spcPts val="800"/>
              </a:spcBef>
              <a:spcAft>
                <a:spcPts val="0"/>
              </a:spcAft>
              <a:buNone/>
            </a:pPr>
            <a:r>
              <a:rPr b="1" lang="en-GB" sz="1081">
                <a:solidFill>
                  <a:srgbClr val="262626"/>
                </a:solidFill>
                <a:latin typeface="Arial"/>
                <a:ea typeface="Arial"/>
                <a:cs typeface="Arial"/>
                <a:sym typeface="Arial"/>
              </a:rPr>
              <a:t>LiDAR: </a:t>
            </a:r>
            <a:r>
              <a:rPr lang="en-GB" sz="1081">
                <a:solidFill>
                  <a:srgbClr val="262626"/>
                </a:solidFill>
                <a:latin typeface="Arial"/>
                <a:ea typeface="Arial"/>
                <a:cs typeface="Arial"/>
                <a:sym typeface="Arial"/>
              </a:rPr>
              <a:t>Measures the distance and movement of objects using laser pulses, helping detect animals even in low-light conditions.</a:t>
            </a:r>
            <a:endParaRPr sz="1081">
              <a:solidFill>
                <a:srgbClr val="262626"/>
              </a:solidFill>
              <a:latin typeface="Arial"/>
              <a:ea typeface="Arial"/>
              <a:cs typeface="Arial"/>
              <a:sym typeface="Arial"/>
            </a:endParaRPr>
          </a:p>
          <a:p>
            <a:pPr indent="0" lvl="0" marL="0" rtl="0" algn="l">
              <a:spcBef>
                <a:spcPts val="800"/>
              </a:spcBef>
              <a:spcAft>
                <a:spcPts val="0"/>
              </a:spcAft>
              <a:buNone/>
            </a:pPr>
            <a:r>
              <a:rPr b="1" lang="en-GB" sz="1081">
                <a:solidFill>
                  <a:srgbClr val="262626"/>
                </a:solidFill>
                <a:latin typeface="Arial"/>
                <a:ea typeface="Arial"/>
                <a:cs typeface="Arial"/>
                <a:sym typeface="Arial"/>
              </a:rPr>
              <a:t>Acoustic Sensors:</a:t>
            </a:r>
            <a:r>
              <a:rPr lang="en-GB" sz="1081">
                <a:solidFill>
                  <a:srgbClr val="262626"/>
                </a:solidFill>
                <a:latin typeface="Arial"/>
                <a:ea typeface="Arial"/>
                <a:cs typeface="Arial"/>
                <a:sym typeface="Arial"/>
              </a:rPr>
              <a:t> Capture and analyze sound patterns to identify specific animal vocalizations or movements in the environment.</a:t>
            </a:r>
            <a:endParaRPr sz="1081">
              <a:solidFill>
                <a:srgbClr val="262626"/>
              </a:solidFill>
              <a:latin typeface="Arial"/>
              <a:ea typeface="Arial"/>
              <a:cs typeface="Arial"/>
              <a:sym typeface="Arial"/>
            </a:endParaRPr>
          </a:p>
          <a:p>
            <a:pPr indent="0" lvl="0" marL="0" rtl="0" algn="l">
              <a:spcBef>
                <a:spcPts val="800"/>
              </a:spcBef>
              <a:spcAft>
                <a:spcPts val="0"/>
              </a:spcAft>
              <a:buNone/>
            </a:pPr>
            <a:r>
              <a:t/>
            </a:r>
            <a:endParaRPr sz="1081">
              <a:solidFill>
                <a:srgbClr val="262626"/>
              </a:solidFill>
              <a:latin typeface="Arial"/>
              <a:ea typeface="Arial"/>
              <a:cs typeface="Arial"/>
              <a:sym typeface="Arial"/>
            </a:endParaRPr>
          </a:p>
          <a:p>
            <a:pPr indent="0" lvl="0" marL="0" rtl="0" algn="l">
              <a:spcBef>
                <a:spcPts val="800"/>
              </a:spcBef>
              <a:spcAft>
                <a:spcPts val="0"/>
              </a:spcAft>
              <a:buNone/>
            </a:pPr>
            <a:r>
              <a:rPr b="1" lang="en-GB" sz="1281">
                <a:solidFill>
                  <a:srgbClr val="262626"/>
                </a:solidFill>
                <a:latin typeface="Arial"/>
                <a:ea typeface="Arial"/>
                <a:cs typeface="Arial"/>
                <a:sym typeface="Arial"/>
              </a:rPr>
              <a:t>2. AI-Based Classification Module</a:t>
            </a:r>
            <a:endParaRPr b="1" sz="1281">
              <a:solidFill>
                <a:srgbClr val="262626"/>
              </a:solidFill>
              <a:latin typeface="Arial"/>
              <a:ea typeface="Arial"/>
              <a:cs typeface="Arial"/>
              <a:sym typeface="Arial"/>
            </a:endParaRPr>
          </a:p>
          <a:p>
            <a:pPr indent="0" lvl="0" marL="0" rtl="0" algn="l">
              <a:spcBef>
                <a:spcPts val="800"/>
              </a:spcBef>
              <a:spcAft>
                <a:spcPts val="0"/>
              </a:spcAft>
              <a:buNone/>
            </a:pPr>
            <a:r>
              <a:rPr b="1" lang="en-GB" sz="1081">
                <a:solidFill>
                  <a:srgbClr val="262626"/>
                </a:solidFill>
                <a:latin typeface="Arial"/>
                <a:ea typeface="Arial"/>
                <a:cs typeface="Arial"/>
                <a:sym typeface="Arial"/>
              </a:rPr>
              <a:t>Components: </a:t>
            </a:r>
            <a:r>
              <a:rPr lang="en-GB" sz="1081">
                <a:solidFill>
                  <a:srgbClr val="262626"/>
                </a:solidFill>
                <a:latin typeface="Arial"/>
                <a:ea typeface="Arial"/>
                <a:cs typeface="Arial"/>
                <a:sym typeface="Arial"/>
              </a:rPr>
              <a:t>YOLO (You Only Look Once) for image classification, CNN (Convolutional Neural Network) for sound classification</a:t>
            </a:r>
            <a:endParaRPr sz="1081">
              <a:solidFill>
                <a:srgbClr val="262626"/>
              </a:solidFill>
              <a:latin typeface="Arial"/>
              <a:ea typeface="Arial"/>
              <a:cs typeface="Arial"/>
              <a:sym typeface="Arial"/>
            </a:endParaRPr>
          </a:p>
          <a:p>
            <a:pPr indent="0" lvl="0" marL="0" rtl="0" algn="l">
              <a:spcBef>
                <a:spcPts val="800"/>
              </a:spcBef>
              <a:spcAft>
                <a:spcPts val="0"/>
              </a:spcAft>
              <a:buNone/>
            </a:pPr>
            <a:r>
              <a:rPr b="1" lang="en-GB" sz="1081">
                <a:solidFill>
                  <a:srgbClr val="262626"/>
                </a:solidFill>
                <a:latin typeface="Arial"/>
                <a:ea typeface="Arial"/>
                <a:cs typeface="Arial"/>
                <a:sym typeface="Arial"/>
              </a:rPr>
              <a:t>Function:</a:t>
            </a:r>
            <a:r>
              <a:rPr lang="en-GB" sz="1081">
                <a:solidFill>
                  <a:srgbClr val="262626"/>
                </a:solidFill>
                <a:latin typeface="Arial"/>
                <a:ea typeface="Arial"/>
                <a:cs typeface="Arial"/>
                <a:sym typeface="Arial"/>
              </a:rPr>
              <a:t> Processes input data from detection sensors to accurately classify animal species and identify potential threats.</a:t>
            </a:r>
            <a:endParaRPr sz="881">
              <a:solidFill>
                <a:srgbClr val="262626"/>
              </a:solidFill>
              <a:latin typeface="Arial"/>
              <a:ea typeface="Arial"/>
              <a:cs typeface="Arial"/>
              <a:sym typeface="Arial"/>
            </a:endParaRPr>
          </a:p>
          <a:p>
            <a:pPr indent="0" lvl="0" marL="0" rtl="0" algn="l">
              <a:spcBef>
                <a:spcPts val="800"/>
              </a:spcBef>
              <a:spcAft>
                <a:spcPts val="0"/>
              </a:spcAft>
              <a:buNone/>
            </a:pPr>
            <a:r>
              <a:rPr b="1" lang="en-GB" sz="1081">
                <a:solidFill>
                  <a:srgbClr val="262626"/>
                </a:solidFill>
                <a:latin typeface="Arial"/>
                <a:ea typeface="Arial"/>
                <a:cs typeface="Arial"/>
                <a:sym typeface="Arial"/>
              </a:rPr>
              <a:t>YOLO:</a:t>
            </a:r>
            <a:r>
              <a:rPr lang="en-GB" sz="1081">
                <a:solidFill>
                  <a:srgbClr val="262626"/>
                </a:solidFill>
                <a:latin typeface="Arial"/>
                <a:ea typeface="Arial"/>
                <a:cs typeface="Arial"/>
                <a:sym typeface="Arial"/>
              </a:rPr>
              <a:t> A real-time object detection model used to detect and classify animals from thermal or visual imagery.</a:t>
            </a:r>
            <a:endParaRPr sz="1081">
              <a:solidFill>
                <a:srgbClr val="262626"/>
              </a:solidFill>
              <a:latin typeface="Arial"/>
              <a:ea typeface="Arial"/>
              <a:cs typeface="Arial"/>
              <a:sym typeface="Arial"/>
            </a:endParaRPr>
          </a:p>
          <a:p>
            <a:pPr indent="0" lvl="0" marL="0" rtl="0" algn="l">
              <a:spcBef>
                <a:spcPts val="800"/>
              </a:spcBef>
              <a:spcAft>
                <a:spcPts val="0"/>
              </a:spcAft>
              <a:buNone/>
            </a:pPr>
            <a:r>
              <a:rPr b="1" lang="en-GB" sz="1081">
                <a:solidFill>
                  <a:srgbClr val="262626"/>
                </a:solidFill>
                <a:latin typeface="Arial"/>
                <a:ea typeface="Arial"/>
                <a:cs typeface="Arial"/>
                <a:sym typeface="Arial"/>
              </a:rPr>
              <a:t>CNN:</a:t>
            </a:r>
            <a:r>
              <a:rPr lang="en-GB" sz="1081">
                <a:solidFill>
                  <a:srgbClr val="262626"/>
                </a:solidFill>
                <a:latin typeface="Arial"/>
                <a:ea typeface="Arial"/>
                <a:cs typeface="Arial"/>
                <a:sym typeface="Arial"/>
              </a:rPr>
              <a:t> Deep learning model trained to classify animal calls or movement sounds based on acoustic signatures.</a:t>
            </a:r>
            <a:endParaRPr sz="1081">
              <a:solidFill>
                <a:srgbClr val="262626"/>
              </a:solidFill>
              <a:latin typeface="Arial"/>
              <a:ea typeface="Arial"/>
              <a:cs typeface="Arial"/>
              <a:sym typeface="Arial"/>
            </a:endParaRPr>
          </a:p>
          <a:p>
            <a:pPr indent="0" lvl="0" marL="0" rtl="0" algn="l">
              <a:spcBef>
                <a:spcPts val="800"/>
              </a:spcBef>
              <a:spcAft>
                <a:spcPts val="0"/>
              </a:spcAft>
              <a:buSzPts val="275"/>
              <a:buNone/>
            </a:pPr>
            <a:r>
              <a:t/>
            </a:r>
            <a:endParaRPr sz="1081">
              <a:solidFill>
                <a:srgbClr val="26262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1292244" y="511583"/>
            <a:ext cx="66837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Modules explanation:</a:t>
            </a:r>
            <a:endParaRPr/>
          </a:p>
        </p:txBody>
      </p:sp>
      <p:sp>
        <p:nvSpPr>
          <p:cNvPr id="129" name="Google Shape;129;p25"/>
          <p:cNvSpPr txBox="1"/>
          <p:nvPr>
            <p:ph idx="1" type="body"/>
          </p:nvPr>
        </p:nvSpPr>
        <p:spPr>
          <a:xfrm>
            <a:off x="522150" y="1276275"/>
            <a:ext cx="8099700" cy="3352500"/>
          </a:xfrm>
          <a:prstGeom prst="rect">
            <a:avLst/>
          </a:prstGeom>
        </p:spPr>
        <p:txBody>
          <a:bodyPr anchorCtr="0" anchor="t" bIns="34275" lIns="68575" spcFirstLastPara="1" rIns="68575" wrap="square" tIns="34275">
            <a:noAutofit/>
          </a:bodyPr>
          <a:lstStyle/>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3. Communication Module</a:t>
            </a:r>
            <a:endParaRPr b="1"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Component:</a:t>
            </a:r>
            <a:r>
              <a:rPr lang="en-GB" sz="1360">
                <a:solidFill>
                  <a:srgbClr val="262626"/>
                </a:solidFill>
                <a:latin typeface="Arial"/>
                <a:ea typeface="Arial"/>
                <a:cs typeface="Arial"/>
                <a:sym typeface="Arial"/>
              </a:rPr>
              <a:t> LoRa-based Mesh Network</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Functi</a:t>
            </a:r>
            <a:r>
              <a:rPr b="1" lang="en-GB" sz="1360">
                <a:solidFill>
                  <a:srgbClr val="262626"/>
                </a:solidFill>
                <a:latin typeface="Arial"/>
                <a:ea typeface="Arial"/>
                <a:cs typeface="Arial"/>
                <a:sym typeface="Arial"/>
              </a:rPr>
              <a:t>on:</a:t>
            </a:r>
            <a:r>
              <a:rPr lang="en-GB" sz="1360">
                <a:solidFill>
                  <a:srgbClr val="262626"/>
                </a:solidFill>
                <a:latin typeface="Arial"/>
                <a:ea typeface="Arial"/>
                <a:cs typeface="Arial"/>
                <a:sym typeface="Arial"/>
              </a:rPr>
              <a:t> Ensures reliable data transmission between system nodes and remote users even in remote, forested areas.</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LoRa:</a:t>
            </a:r>
            <a:r>
              <a:rPr lang="en-GB" sz="1360">
                <a:solidFill>
                  <a:srgbClr val="262626"/>
                </a:solidFill>
                <a:latin typeface="Arial"/>
                <a:ea typeface="Arial"/>
                <a:cs typeface="Arial"/>
                <a:sym typeface="Arial"/>
              </a:rPr>
              <a:t> A long-range, low-power wireless communication protocol ideal for IoT applications in rural regions with limited infrastructure.</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4. Alert System</a:t>
            </a:r>
            <a:endParaRPr b="1"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Components:</a:t>
            </a:r>
            <a:r>
              <a:rPr lang="en-GB" sz="1360">
                <a:solidFill>
                  <a:srgbClr val="262626"/>
                </a:solidFill>
                <a:latin typeface="Arial"/>
                <a:ea typeface="Arial"/>
                <a:cs typeface="Arial"/>
                <a:sym typeface="Arial"/>
              </a:rPr>
              <a:t> Buzzer, SMS alerts, Speaker System</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Function:</a:t>
            </a:r>
            <a:r>
              <a:rPr lang="en-GB" sz="1360">
                <a:solidFill>
                  <a:srgbClr val="262626"/>
                </a:solidFill>
                <a:latin typeface="Arial"/>
                <a:ea typeface="Arial"/>
                <a:cs typeface="Arial"/>
                <a:sym typeface="Arial"/>
              </a:rPr>
              <a:t> Delivers real-time alerts to users when threats are detected.</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Buzzer &amp; Speaker System:</a:t>
            </a:r>
            <a:r>
              <a:rPr lang="en-GB" sz="1360">
                <a:solidFill>
                  <a:srgbClr val="262626"/>
                </a:solidFill>
                <a:latin typeface="Arial"/>
                <a:ea typeface="Arial"/>
                <a:cs typeface="Arial"/>
                <a:sym typeface="Arial"/>
              </a:rPr>
              <a:t> Generate audible warnings to alert nearby humans.</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SMS Alerts:</a:t>
            </a:r>
            <a:r>
              <a:rPr lang="en-GB" sz="1360">
                <a:solidFill>
                  <a:srgbClr val="262626"/>
                </a:solidFill>
                <a:latin typeface="Arial"/>
                <a:ea typeface="Arial"/>
                <a:cs typeface="Arial"/>
                <a:sym typeface="Arial"/>
              </a:rPr>
              <a:t> Notify users and authorities via mobile messages to enable timely interventions.</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t/>
            </a:r>
            <a:endParaRPr sz="1360">
              <a:solidFill>
                <a:srgbClr val="262626"/>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1292244" y="511583"/>
            <a:ext cx="66837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Modules explanation:</a:t>
            </a:r>
            <a:endParaRPr/>
          </a:p>
        </p:txBody>
      </p:sp>
      <p:sp>
        <p:nvSpPr>
          <p:cNvPr id="135" name="Google Shape;135;p26"/>
          <p:cNvSpPr txBox="1"/>
          <p:nvPr>
            <p:ph idx="1" type="body"/>
          </p:nvPr>
        </p:nvSpPr>
        <p:spPr>
          <a:xfrm>
            <a:off x="522150" y="1276275"/>
            <a:ext cx="8099700" cy="3352500"/>
          </a:xfrm>
          <a:prstGeom prst="rect">
            <a:avLst/>
          </a:prstGeom>
        </p:spPr>
        <p:txBody>
          <a:bodyPr anchorCtr="0" anchor="t" bIns="34275" lIns="68575" spcFirstLastPara="1" rIns="68575" wrap="square" tIns="34275">
            <a:noAutofit/>
          </a:bodyPr>
          <a:lstStyle/>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3. Communication Module</a:t>
            </a:r>
            <a:endParaRPr b="1"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Component:</a:t>
            </a:r>
            <a:r>
              <a:rPr lang="en-GB" sz="1360">
                <a:solidFill>
                  <a:srgbClr val="262626"/>
                </a:solidFill>
                <a:latin typeface="Arial"/>
                <a:ea typeface="Arial"/>
                <a:cs typeface="Arial"/>
                <a:sym typeface="Arial"/>
              </a:rPr>
              <a:t> LoRa-based Mesh Network</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Function:</a:t>
            </a:r>
            <a:r>
              <a:rPr lang="en-GB" sz="1360">
                <a:solidFill>
                  <a:srgbClr val="262626"/>
                </a:solidFill>
                <a:latin typeface="Arial"/>
                <a:ea typeface="Arial"/>
                <a:cs typeface="Arial"/>
                <a:sym typeface="Arial"/>
              </a:rPr>
              <a:t> Ensures reliable data transmission between system nodes and remote users even in remote, forested areas.</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LoRa:</a:t>
            </a:r>
            <a:r>
              <a:rPr lang="en-GB" sz="1360">
                <a:solidFill>
                  <a:srgbClr val="262626"/>
                </a:solidFill>
                <a:latin typeface="Arial"/>
                <a:ea typeface="Arial"/>
                <a:cs typeface="Arial"/>
                <a:sym typeface="Arial"/>
              </a:rPr>
              <a:t> A long-range, low-power wireless communication protocol ideal for IoT applications in rural regions with limited infrastructure.</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4. Alert System</a:t>
            </a:r>
            <a:endParaRPr b="1"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Components:</a:t>
            </a:r>
            <a:r>
              <a:rPr lang="en-GB" sz="1360">
                <a:solidFill>
                  <a:srgbClr val="262626"/>
                </a:solidFill>
                <a:latin typeface="Arial"/>
                <a:ea typeface="Arial"/>
                <a:cs typeface="Arial"/>
                <a:sym typeface="Arial"/>
              </a:rPr>
              <a:t> Buzzer, SMS alerts, Speaker System</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Function:</a:t>
            </a:r>
            <a:r>
              <a:rPr lang="en-GB" sz="1360">
                <a:solidFill>
                  <a:srgbClr val="262626"/>
                </a:solidFill>
                <a:latin typeface="Arial"/>
                <a:ea typeface="Arial"/>
                <a:cs typeface="Arial"/>
                <a:sym typeface="Arial"/>
              </a:rPr>
              <a:t> Delivers real-time alerts to users when threats are detected.</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Buzzer &amp; Speaker System:</a:t>
            </a:r>
            <a:r>
              <a:rPr lang="en-GB" sz="1360">
                <a:solidFill>
                  <a:srgbClr val="262626"/>
                </a:solidFill>
                <a:latin typeface="Arial"/>
                <a:ea typeface="Arial"/>
                <a:cs typeface="Arial"/>
                <a:sym typeface="Arial"/>
              </a:rPr>
              <a:t> Generate audible warnings to alert nearby humans.</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360">
                <a:solidFill>
                  <a:srgbClr val="262626"/>
                </a:solidFill>
                <a:latin typeface="Arial"/>
                <a:ea typeface="Arial"/>
                <a:cs typeface="Arial"/>
                <a:sym typeface="Arial"/>
              </a:rPr>
              <a:t>SMS Alerts:</a:t>
            </a:r>
            <a:r>
              <a:rPr lang="en-GB" sz="1360">
                <a:solidFill>
                  <a:srgbClr val="262626"/>
                </a:solidFill>
                <a:latin typeface="Arial"/>
                <a:ea typeface="Arial"/>
                <a:cs typeface="Arial"/>
                <a:sym typeface="Arial"/>
              </a:rPr>
              <a:t> Notify users and authorities via mobile messages to enable timely interventions.</a:t>
            </a:r>
            <a:endParaRPr sz="13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t/>
            </a:r>
            <a:endParaRPr sz="1360">
              <a:solidFill>
                <a:srgbClr val="26262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1230144" y="478958"/>
            <a:ext cx="66837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Modules explanation:</a:t>
            </a:r>
            <a:endParaRPr/>
          </a:p>
        </p:txBody>
      </p:sp>
      <p:sp>
        <p:nvSpPr>
          <p:cNvPr id="141" name="Google Shape;141;p27"/>
          <p:cNvSpPr txBox="1"/>
          <p:nvPr>
            <p:ph idx="1" type="body"/>
          </p:nvPr>
        </p:nvSpPr>
        <p:spPr>
          <a:xfrm>
            <a:off x="505500" y="1439550"/>
            <a:ext cx="8133000" cy="2404800"/>
          </a:xfrm>
          <a:prstGeom prst="rect">
            <a:avLst/>
          </a:prstGeom>
        </p:spPr>
        <p:txBody>
          <a:bodyPr anchorCtr="0" anchor="t" bIns="34275" lIns="68575" spcFirstLastPara="1" rIns="68575" wrap="square" tIns="34275">
            <a:noAutofit/>
          </a:bodyPr>
          <a:lstStyle/>
          <a:p>
            <a:pPr indent="0" lvl="0" marL="0" rtl="0" algn="l">
              <a:lnSpc>
                <a:spcPct val="95000"/>
              </a:lnSpc>
              <a:spcBef>
                <a:spcPts val="800"/>
              </a:spcBef>
              <a:spcAft>
                <a:spcPts val="0"/>
              </a:spcAft>
              <a:buSzPts val="770"/>
              <a:buNone/>
            </a:pPr>
            <a:r>
              <a:rPr b="1" lang="en-GB">
                <a:solidFill>
                  <a:srgbClr val="262626"/>
                </a:solidFill>
                <a:latin typeface="Arial"/>
                <a:ea typeface="Arial"/>
                <a:cs typeface="Arial"/>
                <a:sym typeface="Arial"/>
              </a:rPr>
              <a:t>5. Power Management Module</a:t>
            </a:r>
            <a:endParaRPr b="1">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460">
                <a:solidFill>
                  <a:srgbClr val="262626"/>
                </a:solidFill>
                <a:latin typeface="Arial"/>
                <a:ea typeface="Arial"/>
                <a:cs typeface="Arial"/>
                <a:sym typeface="Arial"/>
              </a:rPr>
              <a:t>Components: </a:t>
            </a:r>
            <a:r>
              <a:rPr lang="en-GB" sz="1460">
                <a:solidFill>
                  <a:srgbClr val="262626"/>
                </a:solidFill>
                <a:latin typeface="Arial"/>
                <a:ea typeface="Arial"/>
                <a:cs typeface="Arial"/>
                <a:sym typeface="Arial"/>
              </a:rPr>
              <a:t>Solar Panels, Battery Storage System</a:t>
            </a:r>
            <a:endParaRPr sz="14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460">
                <a:solidFill>
                  <a:srgbClr val="262626"/>
                </a:solidFill>
                <a:latin typeface="Arial"/>
                <a:ea typeface="Arial"/>
                <a:cs typeface="Arial"/>
                <a:sym typeface="Arial"/>
              </a:rPr>
              <a:t>Function:</a:t>
            </a:r>
            <a:r>
              <a:rPr lang="en-GB" sz="1460">
                <a:solidFill>
                  <a:srgbClr val="262626"/>
                </a:solidFill>
                <a:latin typeface="Arial"/>
                <a:ea typeface="Arial"/>
                <a:cs typeface="Arial"/>
                <a:sym typeface="Arial"/>
              </a:rPr>
              <a:t> Provides a sustainable power solution to keep the system operational 24/7 without dependence on conventional electricity.</a:t>
            </a:r>
            <a:endParaRPr sz="14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460">
                <a:solidFill>
                  <a:srgbClr val="262626"/>
                </a:solidFill>
                <a:latin typeface="Arial"/>
                <a:ea typeface="Arial"/>
                <a:cs typeface="Arial"/>
                <a:sym typeface="Arial"/>
              </a:rPr>
              <a:t>Solar Panels: </a:t>
            </a:r>
            <a:r>
              <a:rPr lang="en-GB" sz="1460">
                <a:solidFill>
                  <a:srgbClr val="262626"/>
                </a:solidFill>
                <a:latin typeface="Arial"/>
                <a:ea typeface="Arial"/>
                <a:cs typeface="Arial"/>
                <a:sym typeface="Arial"/>
              </a:rPr>
              <a:t>Capture sunlight to power the system during the day.</a:t>
            </a:r>
            <a:endParaRPr sz="14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rPr b="1" lang="en-GB" sz="1460">
                <a:solidFill>
                  <a:srgbClr val="262626"/>
                </a:solidFill>
                <a:latin typeface="Arial"/>
                <a:ea typeface="Arial"/>
                <a:cs typeface="Arial"/>
                <a:sym typeface="Arial"/>
              </a:rPr>
              <a:t>Battery Storage:</a:t>
            </a:r>
            <a:r>
              <a:rPr lang="en-GB" sz="1460">
                <a:solidFill>
                  <a:srgbClr val="262626"/>
                </a:solidFill>
                <a:latin typeface="Arial"/>
                <a:ea typeface="Arial"/>
                <a:cs typeface="Arial"/>
                <a:sym typeface="Arial"/>
              </a:rPr>
              <a:t> Stores excess power to keep the system running during the night or cloudy conditions.  </a:t>
            </a:r>
            <a:endParaRPr sz="1460">
              <a:solidFill>
                <a:srgbClr val="262626"/>
              </a:solidFill>
              <a:latin typeface="Arial"/>
              <a:ea typeface="Arial"/>
              <a:cs typeface="Arial"/>
              <a:sym typeface="Arial"/>
            </a:endParaRPr>
          </a:p>
          <a:p>
            <a:pPr indent="0" lvl="0" marL="0" rtl="0" algn="l">
              <a:lnSpc>
                <a:spcPct val="95000"/>
              </a:lnSpc>
              <a:spcBef>
                <a:spcPts val="800"/>
              </a:spcBef>
              <a:spcAft>
                <a:spcPts val="0"/>
              </a:spcAft>
              <a:buSzPts val="770"/>
              <a:buNone/>
            </a:pPr>
            <a:r>
              <a:t/>
            </a:r>
            <a:endParaRPr sz="126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1263901" y="478950"/>
            <a:ext cx="7364700" cy="960600"/>
          </a:xfrm>
          <a:prstGeom prst="rect">
            <a:avLst/>
          </a:prstGeom>
        </p:spPr>
        <p:txBody>
          <a:bodyPr anchorCtr="0" anchor="t" bIns="34275" lIns="68575" spcFirstLastPara="1" rIns="68575" wrap="square" tIns="34275">
            <a:normAutofit fontScale="90000"/>
          </a:bodyPr>
          <a:lstStyle/>
          <a:p>
            <a:pPr indent="0" lvl="0" marL="0" rtl="0" algn="l">
              <a:spcBef>
                <a:spcPts val="0"/>
              </a:spcBef>
              <a:spcAft>
                <a:spcPts val="0"/>
              </a:spcAft>
              <a:buNone/>
            </a:pPr>
            <a:r>
              <a:rPr lang="en-GB">
                <a:latin typeface="Arial Rounded"/>
                <a:ea typeface="Arial Rounded"/>
                <a:cs typeface="Arial Rounded"/>
                <a:sym typeface="Arial Rounded"/>
              </a:rPr>
              <a:t>System Specifications Hardware Requirements Sensors:</a:t>
            </a:r>
            <a:endParaRPr>
              <a:latin typeface="Arial Rounded"/>
              <a:ea typeface="Arial Rounded"/>
              <a:cs typeface="Arial Rounded"/>
              <a:sym typeface="Arial Rounded"/>
            </a:endParaRPr>
          </a:p>
          <a:p>
            <a:pPr indent="0" lvl="0" marL="0" rtl="0" algn="l">
              <a:spcBef>
                <a:spcPts val="0"/>
              </a:spcBef>
              <a:spcAft>
                <a:spcPts val="0"/>
              </a:spcAft>
              <a:buNone/>
            </a:pPr>
            <a:r>
              <a:t/>
            </a:r>
            <a:endParaRPr/>
          </a:p>
        </p:txBody>
      </p:sp>
      <p:sp>
        <p:nvSpPr>
          <p:cNvPr id="147" name="Google Shape;147;p28"/>
          <p:cNvSpPr txBox="1"/>
          <p:nvPr>
            <p:ph idx="1" type="body"/>
          </p:nvPr>
        </p:nvSpPr>
        <p:spPr>
          <a:xfrm>
            <a:off x="890100" y="1619300"/>
            <a:ext cx="8112300" cy="3049800"/>
          </a:xfrm>
          <a:prstGeom prst="rect">
            <a:avLst/>
          </a:prstGeom>
        </p:spPr>
        <p:txBody>
          <a:bodyPr anchorCtr="0" anchor="t" bIns="34275" lIns="68575" spcFirstLastPara="1" rIns="68575" wrap="square" tIns="34275">
            <a:noAutofit/>
          </a:bodyPr>
          <a:lstStyle/>
          <a:p>
            <a:pPr indent="-333692" lvl="0" marL="457200" rtl="0" algn="l">
              <a:lnSpc>
                <a:spcPct val="95000"/>
              </a:lnSpc>
              <a:spcBef>
                <a:spcPts val="80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Thermal Imaging Camera </a:t>
            </a:r>
            <a:r>
              <a:rPr lang="en-GB" sz="1654">
                <a:solidFill>
                  <a:srgbClr val="262626"/>
                </a:solidFill>
                <a:latin typeface="Arial"/>
                <a:ea typeface="Arial"/>
                <a:cs typeface="Arial"/>
                <a:sym typeface="Arial"/>
              </a:rPr>
              <a:t>– Captures images with heat signatures of animals.</a:t>
            </a:r>
            <a:endParaRPr sz="1654">
              <a:solidFill>
                <a:srgbClr val="262626"/>
              </a:solidFill>
              <a:latin typeface="Arial"/>
              <a:ea typeface="Arial"/>
              <a:cs typeface="Arial"/>
              <a:sym typeface="Arial"/>
            </a:endParaRPr>
          </a:p>
          <a:p>
            <a:pPr indent="-333692" lvl="0" marL="457200" rtl="0" algn="l">
              <a:lnSpc>
                <a:spcPct val="95000"/>
              </a:lnSpc>
              <a:spcBef>
                <a:spcPts val="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LiDAR Sensor </a:t>
            </a:r>
            <a:r>
              <a:rPr lang="en-GB" sz="1654">
                <a:solidFill>
                  <a:srgbClr val="262626"/>
                </a:solidFill>
                <a:latin typeface="Arial"/>
                <a:ea typeface="Arial"/>
                <a:cs typeface="Arial"/>
                <a:sym typeface="Arial"/>
              </a:rPr>
              <a:t>– Measures distance and movement.</a:t>
            </a:r>
            <a:endParaRPr sz="1654">
              <a:solidFill>
                <a:srgbClr val="262626"/>
              </a:solidFill>
              <a:latin typeface="Arial"/>
              <a:ea typeface="Arial"/>
              <a:cs typeface="Arial"/>
              <a:sym typeface="Arial"/>
            </a:endParaRPr>
          </a:p>
          <a:p>
            <a:pPr indent="-333692" lvl="0" marL="457200" rtl="0" algn="l">
              <a:lnSpc>
                <a:spcPct val="95000"/>
              </a:lnSpc>
              <a:spcBef>
                <a:spcPts val="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Acoustic Sensor </a:t>
            </a:r>
            <a:r>
              <a:rPr lang="en-GB" sz="1654">
                <a:solidFill>
                  <a:srgbClr val="262626"/>
                </a:solidFill>
                <a:latin typeface="Arial"/>
                <a:ea typeface="Arial"/>
                <a:cs typeface="Arial"/>
                <a:sym typeface="Arial"/>
              </a:rPr>
              <a:t>– Records animal sounds for classification.</a:t>
            </a:r>
            <a:endParaRPr sz="1654">
              <a:solidFill>
                <a:srgbClr val="262626"/>
              </a:solidFill>
              <a:latin typeface="Arial"/>
              <a:ea typeface="Arial"/>
              <a:cs typeface="Arial"/>
              <a:sym typeface="Arial"/>
            </a:endParaRPr>
          </a:p>
          <a:p>
            <a:pPr indent="-333692" lvl="0" marL="457200" rtl="0" algn="l">
              <a:lnSpc>
                <a:spcPct val="95000"/>
              </a:lnSpc>
              <a:spcBef>
                <a:spcPts val="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Processing Unit:</a:t>
            </a:r>
            <a:r>
              <a:rPr lang="en-GB" sz="1654">
                <a:solidFill>
                  <a:srgbClr val="262626"/>
                </a:solidFill>
                <a:latin typeface="Arial"/>
                <a:ea typeface="Arial"/>
                <a:cs typeface="Arial"/>
                <a:sym typeface="Arial"/>
              </a:rPr>
              <a:t> Raspberry Pi  – Edge computing for real-time processing.</a:t>
            </a:r>
            <a:endParaRPr sz="1654">
              <a:solidFill>
                <a:srgbClr val="262626"/>
              </a:solidFill>
              <a:latin typeface="Arial"/>
              <a:ea typeface="Arial"/>
              <a:cs typeface="Arial"/>
              <a:sym typeface="Arial"/>
            </a:endParaRPr>
          </a:p>
          <a:p>
            <a:pPr indent="-333692" lvl="0" marL="457200" rtl="0" algn="l">
              <a:lnSpc>
                <a:spcPct val="95000"/>
              </a:lnSpc>
              <a:spcBef>
                <a:spcPts val="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Communication &amp; Power:</a:t>
            </a:r>
            <a:r>
              <a:rPr lang="en-GB" sz="1654">
                <a:solidFill>
                  <a:srgbClr val="262626"/>
                </a:solidFill>
                <a:latin typeface="Arial"/>
                <a:ea typeface="Arial"/>
                <a:cs typeface="Arial"/>
                <a:sym typeface="Arial"/>
              </a:rPr>
              <a:t> </a:t>
            </a:r>
            <a:r>
              <a:rPr lang="en-GB" sz="1654">
                <a:solidFill>
                  <a:srgbClr val="262626"/>
                </a:solidFill>
                <a:latin typeface="Arial"/>
                <a:ea typeface="Arial"/>
                <a:cs typeface="Arial"/>
                <a:sym typeface="Arial"/>
              </a:rPr>
              <a:t> LoRa/Wi-Fi Module – Enables real-time alert transmission.</a:t>
            </a:r>
            <a:endParaRPr sz="1654">
              <a:solidFill>
                <a:srgbClr val="262626"/>
              </a:solidFill>
              <a:latin typeface="Arial"/>
              <a:ea typeface="Arial"/>
              <a:cs typeface="Arial"/>
              <a:sym typeface="Arial"/>
            </a:endParaRPr>
          </a:p>
          <a:p>
            <a:pPr indent="-333692" lvl="0" marL="457200" rtl="0" algn="l">
              <a:lnSpc>
                <a:spcPct val="95000"/>
              </a:lnSpc>
              <a:spcBef>
                <a:spcPts val="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Battery &amp; Solar Power</a:t>
            </a:r>
            <a:r>
              <a:rPr lang="en-GB" sz="1654">
                <a:solidFill>
                  <a:srgbClr val="262626"/>
                </a:solidFill>
                <a:latin typeface="Arial"/>
                <a:ea typeface="Arial"/>
                <a:cs typeface="Arial"/>
                <a:sym typeface="Arial"/>
              </a:rPr>
              <a:t> – Ensures 24/7 operation.</a:t>
            </a:r>
            <a:endParaRPr sz="1654">
              <a:solidFill>
                <a:srgbClr val="262626"/>
              </a:solidFill>
              <a:latin typeface="Arial"/>
              <a:ea typeface="Arial"/>
              <a:cs typeface="Arial"/>
              <a:sym typeface="Arial"/>
            </a:endParaRPr>
          </a:p>
          <a:p>
            <a:pPr indent="-333692" lvl="0" marL="457200" rtl="0" algn="l">
              <a:lnSpc>
                <a:spcPct val="95000"/>
              </a:lnSpc>
              <a:spcBef>
                <a:spcPts val="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Software Requirements Operating System: </a:t>
            </a:r>
            <a:r>
              <a:rPr lang="en-GB" sz="1654">
                <a:solidFill>
                  <a:srgbClr val="262626"/>
                </a:solidFill>
                <a:latin typeface="Arial"/>
                <a:ea typeface="Arial"/>
                <a:cs typeface="Arial"/>
                <a:sym typeface="Arial"/>
              </a:rPr>
              <a:t>Linux-based (Raspberry Pi OS).</a:t>
            </a:r>
            <a:endParaRPr sz="1654">
              <a:solidFill>
                <a:srgbClr val="262626"/>
              </a:solidFill>
              <a:latin typeface="Arial"/>
              <a:ea typeface="Arial"/>
              <a:cs typeface="Arial"/>
              <a:sym typeface="Arial"/>
            </a:endParaRPr>
          </a:p>
          <a:p>
            <a:pPr indent="-333692" lvl="0" marL="457200" rtl="0" algn="l">
              <a:lnSpc>
                <a:spcPct val="95000"/>
              </a:lnSpc>
              <a:spcBef>
                <a:spcPts val="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Programming Languages: </a:t>
            </a:r>
            <a:r>
              <a:rPr lang="en-GB" sz="1654">
                <a:solidFill>
                  <a:srgbClr val="262626"/>
                </a:solidFill>
                <a:latin typeface="Arial"/>
                <a:ea typeface="Arial"/>
                <a:cs typeface="Arial"/>
                <a:sym typeface="Arial"/>
              </a:rPr>
              <a:t>Python, TensorFlow, OpenCV.</a:t>
            </a:r>
            <a:endParaRPr sz="1654">
              <a:solidFill>
                <a:srgbClr val="262626"/>
              </a:solidFill>
              <a:latin typeface="Arial"/>
              <a:ea typeface="Arial"/>
              <a:cs typeface="Arial"/>
              <a:sym typeface="Arial"/>
            </a:endParaRPr>
          </a:p>
          <a:p>
            <a:pPr indent="-333692" lvl="0" marL="457200" rtl="0" algn="l">
              <a:lnSpc>
                <a:spcPct val="95000"/>
              </a:lnSpc>
              <a:spcBef>
                <a:spcPts val="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Machine Learning Frameworks:</a:t>
            </a:r>
            <a:r>
              <a:rPr lang="en-GB" sz="1654">
                <a:solidFill>
                  <a:srgbClr val="262626"/>
                </a:solidFill>
                <a:latin typeface="Arial"/>
                <a:ea typeface="Arial"/>
                <a:cs typeface="Arial"/>
                <a:sym typeface="Arial"/>
              </a:rPr>
              <a:t> TensorFlow, PyTorch, YOLO, CNN models.</a:t>
            </a:r>
            <a:endParaRPr sz="1654">
              <a:solidFill>
                <a:srgbClr val="262626"/>
              </a:solidFill>
              <a:latin typeface="Arial"/>
              <a:ea typeface="Arial"/>
              <a:cs typeface="Arial"/>
              <a:sym typeface="Arial"/>
            </a:endParaRPr>
          </a:p>
          <a:p>
            <a:pPr indent="-333692" lvl="0" marL="457200" rtl="0" algn="l">
              <a:lnSpc>
                <a:spcPct val="95000"/>
              </a:lnSpc>
              <a:spcBef>
                <a:spcPts val="0"/>
              </a:spcBef>
              <a:spcAft>
                <a:spcPts val="0"/>
              </a:spcAft>
              <a:buClr>
                <a:srgbClr val="262626"/>
              </a:buClr>
              <a:buSzPts val="1655"/>
              <a:buFont typeface="Arial"/>
              <a:buChar char="●"/>
            </a:pPr>
            <a:r>
              <a:rPr b="1" lang="en-GB" sz="1654">
                <a:solidFill>
                  <a:srgbClr val="262626"/>
                </a:solidFill>
                <a:latin typeface="Arial"/>
                <a:ea typeface="Arial"/>
                <a:cs typeface="Arial"/>
                <a:sym typeface="Arial"/>
              </a:rPr>
              <a:t>Database:</a:t>
            </a:r>
            <a:r>
              <a:rPr lang="en-GB" sz="1654">
                <a:solidFill>
                  <a:srgbClr val="262626"/>
                </a:solidFill>
                <a:latin typeface="Arial"/>
                <a:ea typeface="Arial"/>
                <a:cs typeface="Arial"/>
                <a:sym typeface="Arial"/>
              </a:rPr>
              <a:t> SQLite / Firebase for data storage.</a:t>
            </a:r>
            <a:endParaRPr sz="1654">
              <a:solidFill>
                <a:srgbClr val="262626"/>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9"/>
          <p:cNvPicPr preferRelativeResize="0"/>
          <p:nvPr/>
        </p:nvPicPr>
        <p:blipFill rotWithShape="1">
          <a:blip r:embed="rId3">
            <a:alphaModFix/>
          </a:blip>
          <a:srcRect b="0" l="0" r="0" t="0"/>
          <a:stretch/>
        </p:blipFill>
        <p:spPr>
          <a:xfrm>
            <a:off x="152400" y="821975"/>
            <a:ext cx="8839201" cy="4161750"/>
          </a:xfrm>
          <a:prstGeom prst="rect">
            <a:avLst/>
          </a:prstGeom>
          <a:noFill/>
          <a:ln>
            <a:noFill/>
          </a:ln>
        </p:spPr>
      </p:pic>
      <p:sp>
        <p:nvSpPr>
          <p:cNvPr id="153" name="Google Shape;153;p29"/>
          <p:cNvSpPr txBox="1"/>
          <p:nvPr/>
        </p:nvSpPr>
        <p:spPr>
          <a:xfrm>
            <a:off x="1287575" y="242200"/>
            <a:ext cx="29817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latin typeface="Times New Roman"/>
                <a:ea typeface="Times New Roman"/>
                <a:cs typeface="Times New Roman"/>
                <a:sym typeface="Times New Roman"/>
              </a:rPr>
              <a:t>Thermal image dataset</a:t>
            </a:r>
            <a:r>
              <a:rPr b="1" lang="en-GB" sz="2100">
                <a:latin typeface="Times New Roman"/>
                <a:ea typeface="Times New Roman"/>
                <a:cs typeface="Times New Roman"/>
                <a:sym typeface="Times New Roman"/>
              </a:rPr>
              <a:t> </a:t>
            </a:r>
            <a:endParaRPr sz="2500">
              <a:solidFill>
                <a:schemeClr val="dk2"/>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nvSpPr>
        <p:spPr>
          <a:xfrm>
            <a:off x="1184875" y="422350"/>
            <a:ext cx="3998700" cy="302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GB" sz="2200">
                <a:latin typeface="Times New Roman"/>
                <a:ea typeface="Times New Roman"/>
                <a:cs typeface="Times New Roman"/>
                <a:sym typeface="Times New Roman"/>
              </a:rPr>
              <a:t>MFCC audio features dataset table</a:t>
            </a:r>
            <a:endParaRPr b="1" sz="2200">
              <a:latin typeface="Times New Roman"/>
              <a:ea typeface="Times New Roman"/>
              <a:cs typeface="Times New Roman"/>
              <a:sym typeface="Times New Roman"/>
            </a:endParaRPr>
          </a:p>
          <a:p>
            <a:pPr indent="0" lvl="0" marL="0" rtl="0" algn="l">
              <a:spcBef>
                <a:spcPts val="1200"/>
              </a:spcBef>
              <a:spcAft>
                <a:spcPts val="0"/>
              </a:spcAft>
              <a:buNone/>
            </a:pPr>
            <a:r>
              <a:t/>
            </a:r>
            <a:endParaRPr b="1" sz="1800">
              <a:solidFill>
                <a:srgbClr val="262626"/>
              </a:solidFill>
              <a:latin typeface="Proxima Nova"/>
              <a:ea typeface="Proxima Nova"/>
              <a:cs typeface="Proxima Nova"/>
              <a:sym typeface="Proxima Nova"/>
            </a:endParaRPr>
          </a:p>
        </p:txBody>
      </p:sp>
      <p:pic>
        <p:nvPicPr>
          <p:cNvPr id="159" name="Google Shape;159;p30"/>
          <p:cNvPicPr preferRelativeResize="0"/>
          <p:nvPr/>
        </p:nvPicPr>
        <p:blipFill>
          <a:blip r:embed="rId3">
            <a:alphaModFix/>
          </a:blip>
          <a:stretch>
            <a:fillRect/>
          </a:stretch>
        </p:blipFill>
        <p:spPr>
          <a:xfrm>
            <a:off x="0" y="938100"/>
            <a:ext cx="9144000" cy="42054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nvSpPr>
        <p:spPr>
          <a:xfrm>
            <a:off x="1308175" y="1401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262626"/>
                </a:solidFill>
                <a:latin typeface="Proxima Nova"/>
                <a:ea typeface="Proxima Nova"/>
                <a:cs typeface="Proxima Nova"/>
                <a:sym typeface="Proxima Nova"/>
              </a:rPr>
              <a:t>Dataset:</a:t>
            </a:r>
            <a:endParaRPr b="1" sz="1800">
              <a:solidFill>
                <a:srgbClr val="262626"/>
              </a:solidFill>
              <a:latin typeface="Proxima Nova"/>
              <a:ea typeface="Proxima Nova"/>
              <a:cs typeface="Proxima Nova"/>
              <a:sym typeface="Proxima Nova"/>
            </a:endParaRPr>
          </a:p>
        </p:txBody>
      </p:sp>
      <p:pic>
        <p:nvPicPr>
          <p:cNvPr id="165" name="Google Shape;165;p31"/>
          <p:cNvPicPr preferRelativeResize="0"/>
          <p:nvPr/>
        </p:nvPicPr>
        <p:blipFill>
          <a:blip r:embed="rId3">
            <a:alphaModFix/>
          </a:blip>
          <a:stretch>
            <a:fillRect/>
          </a:stretch>
        </p:blipFill>
        <p:spPr>
          <a:xfrm>
            <a:off x="0" y="938800"/>
            <a:ext cx="9072525" cy="4204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nvSpPr>
        <p:spPr>
          <a:xfrm>
            <a:off x="1278450" y="31217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200">
                <a:solidFill>
                  <a:srgbClr val="262626"/>
                </a:solidFill>
                <a:latin typeface="Proxima Nova"/>
                <a:ea typeface="Proxima Nova"/>
                <a:cs typeface="Proxima Nova"/>
                <a:sym typeface="Proxima Nova"/>
              </a:rPr>
              <a:t>Audio Prediction</a:t>
            </a:r>
            <a:endParaRPr b="1" sz="2200">
              <a:solidFill>
                <a:srgbClr val="262626"/>
              </a:solidFill>
              <a:latin typeface="Proxima Nova"/>
              <a:ea typeface="Proxima Nova"/>
              <a:cs typeface="Proxima Nova"/>
              <a:sym typeface="Proxima Nova"/>
            </a:endParaRPr>
          </a:p>
        </p:txBody>
      </p:sp>
      <p:pic>
        <p:nvPicPr>
          <p:cNvPr id="171" name="Google Shape;171;p32"/>
          <p:cNvPicPr preferRelativeResize="0"/>
          <p:nvPr/>
        </p:nvPicPr>
        <p:blipFill>
          <a:blip r:embed="rId3">
            <a:alphaModFix/>
          </a:blip>
          <a:stretch>
            <a:fillRect/>
          </a:stretch>
        </p:blipFill>
        <p:spPr>
          <a:xfrm>
            <a:off x="0" y="963400"/>
            <a:ext cx="9054925" cy="4180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idx="1" type="body"/>
          </p:nvPr>
        </p:nvSpPr>
        <p:spPr>
          <a:xfrm>
            <a:off x="1941909" y="1600200"/>
            <a:ext cx="6686700" cy="2833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177" name="Google Shape;177;p33"/>
          <p:cNvPicPr preferRelativeResize="0"/>
          <p:nvPr/>
        </p:nvPicPr>
        <p:blipFill>
          <a:blip r:embed="rId3">
            <a:alphaModFix/>
          </a:blip>
          <a:stretch>
            <a:fillRect/>
          </a:stretch>
        </p:blipFill>
        <p:spPr>
          <a:xfrm>
            <a:off x="0" y="918750"/>
            <a:ext cx="8963025" cy="4156375"/>
          </a:xfrm>
          <a:prstGeom prst="rect">
            <a:avLst/>
          </a:prstGeom>
          <a:noFill/>
          <a:ln>
            <a:noFill/>
          </a:ln>
        </p:spPr>
      </p:pic>
      <p:sp>
        <p:nvSpPr>
          <p:cNvPr id="178" name="Google Shape;178;p33"/>
          <p:cNvSpPr txBox="1"/>
          <p:nvPr/>
        </p:nvSpPr>
        <p:spPr>
          <a:xfrm>
            <a:off x="1240400" y="312750"/>
            <a:ext cx="4527600" cy="606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GB" sz="2200">
                <a:latin typeface="Times New Roman"/>
                <a:ea typeface="Times New Roman"/>
                <a:cs typeface="Times New Roman"/>
                <a:sym typeface="Times New Roman"/>
              </a:rPr>
              <a:t>Incorrect image detection</a:t>
            </a:r>
            <a:endParaRPr b="1" sz="2200">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2"/>
              </a:solidFill>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nvSpPr>
        <p:spPr>
          <a:xfrm>
            <a:off x="1040575" y="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262626"/>
                </a:solidFill>
                <a:latin typeface="Proxima Nova"/>
                <a:ea typeface="Proxima Nova"/>
                <a:cs typeface="Proxima Nova"/>
                <a:sym typeface="Proxima Nova"/>
              </a:rPr>
              <a:t>Circuit:</a:t>
            </a:r>
            <a:endParaRPr b="1" sz="1800">
              <a:solidFill>
                <a:srgbClr val="262626"/>
              </a:solidFill>
              <a:latin typeface="Proxima Nova"/>
              <a:ea typeface="Proxima Nova"/>
              <a:cs typeface="Proxima Nova"/>
              <a:sym typeface="Proxima Nova"/>
            </a:endParaRPr>
          </a:p>
        </p:txBody>
      </p:sp>
      <p:pic>
        <p:nvPicPr>
          <p:cNvPr id="184" name="Google Shape;184;p34"/>
          <p:cNvPicPr preferRelativeResize="0"/>
          <p:nvPr/>
        </p:nvPicPr>
        <p:blipFill>
          <a:blip r:embed="rId3">
            <a:alphaModFix/>
          </a:blip>
          <a:stretch>
            <a:fillRect/>
          </a:stretch>
        </p:blipFill>
        <p:spPr>
          <a:xfrm>
            <a:off x="866050" y="461700"/>
            <a:ext cx="7859849" cy="4464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type="title"/>
          </p:nvPr>
        </p:nvSpPr>
        <p:spPr>
          <a:xfrm>
            <a:off x="1230144" y="468083"/>
            <a:ext cx="66837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CONCLUSION:</a:t>
            </a:r>
            <a:endParaRPr>
              <a:latin typeface="Arial Rounded"/>
              <a:ea typeface="Arial Rounded"/>
              <a:cs typeface="Arial Rounded"/>
              <a:sym typeface="Arial Rounded"/>
            </a:endParaRPr>
          </a:p>
        </p:txBody>
      </p:sp>
      <p:sp>
        <p:nvSpPr>
          <p:cNvPr id="190" name="Google Shape;190;p35"/>
          <p:cNvSpPr txBox="1"/>
          <p:nvPr>
            <p:ph idx="1" type="body"/>
          </p:nvPr>
        </p:nvSpPr>
        <p:spPr>
          <a:xfrm>
            <a:off x="699600" y="1067200"/>
            <a:ext cx="7904400" cy="3785400"/>
          </a:xfrm>
          <a:prstGeom prst="rect">
            <a:avLst/>
          </a:prstGeom>
        </p:spPr>
        <p:txBody>
          <a:bodyPr anchorCtr="0" anchor="t" bIns="34275" lIns="68575" spcFirstLastPara="1" rIns="68575" wrap="square" tIns="34275">
            <a:normAutofit fontScale="25000" lnSpcReduction="10000"/>
          </a:bodyPr>
          <a:lstStyle/>
          <a:p>
            <a:pPr indent="-349234" lvl="0" marL="457200" rtl="0" algn="just">
              <a:lnSpc>
                <a:spcPct val="150000"/>
              </a:lnSpc>
              <a:spcBef>
                <a:spcPts val="0"/>
              </a:spcBef>
              <a:spcAft>
                <a:spcPts val="0"/>
              </a:spcAft>
              <a:buClr>
                <a:srgbClr val="262626"/>
              </a:buClr>
              <a:buSzPct val="100000"/>
              <a:buFont typeface="Arial"/>
              <a:buChar char="●"/>
            </a:pPr>
            <a:r>
              <a:rPr lang="en-GB" sz="7599">
                <a:solidFill>
                  <a:srgbClr val="262626"/>
                </a:solidFill>
                <a:latin typeface="Arial"/>
                <a:ea typeface="Arial"/>
                <a:cs typeface="Arial"/>
                <a:sym typeface="Arial"/>
              </a:rPr>
              <a:t>The system enhances community safety by providing real-time detection and alert mechanisms for wildlife threats.</a:t>
            </a:r>
            <a:endParaRPr sz="7599">
              <a:solidFill>
                <a:srgbClr val="262626"/>
              </a:solidFill>
              <a:latin typeface="Arial"/>
              <a:ea typeface="Arial"/>
              <a:cs typeface="Arial"/>
              <a:sym typeface="Arial"/>
            </a:endParaRPr>
          </a:p>
          <a:p>
            <a:pPr indent="-349234" lvl="0" marL="457200" rtl="0" algn="just">
              <a:lnSpc>
                <a:spcPct val="150000"/>
              </a:lnSpc>
              <a:spcBef>
                <a:spcPts val="0"/>
              </a:spcBef>
              <a:spcAft>
                <a:spcPts val="0"/>
              </a:spcAft>
              <a:buClr>
                <a:srgbClr val="262626"/>
              </a:buClr>
              <a:buSzPct val="100000"/>
              <a:buFont typeface="Arial"/>
              <a:buChar char="●"/>
            </a:pPr>
            <a:r>
              <a:rPr lang="en-GB" sz="7599">
                <a:solidFill>
                  <a:srgbClr val="262626"/>
                </a:solidFill>
                <a:latin typeface="Arial"/>
                <a:ea typeface="Arial"/>
                <a:cs typeface="Arial"/>
                <a:sym typeface="Arial"/>
              </a:rPr>
              <a:t>AI-driven models like YOLO and CNN improve classification accuracy and minimize false alarms.</a:t>
            </a:r>
            <a:endParaRPr sz="7599">
              <a:solidFill>
                <a:srgbClr val="262626"/>
              </a:solidFill>
              <a:latin typeface="Arial"/>
              <a:ea typeface="Arial"/>
              <a:cs typeface="Arial"/>
              <a:sym typeface="Arial"/>
            </a:endParaRPr>
          </a:p>
          <a:p>
            <a:pPr indent="-349234" lvl="0" marL="457200" rtl="0" algn="just">
              <a:lnSpc>
                <a:spcPct val="150000"/>
              </a:lnSpc>
              <a:spcBef>
                <a:spcPts val="0"/>
              </a:spcBef>
              <a:spcAft>
                <a:spcPts val="0"/>
              </a:spcAft>
              <a:buClr>
                <a:srgbClr val="262626"/>
              </a:buClr>
              <a:buSzPct val="100000"/>
              <a:buFont typeface="Arial"/>
              <a:buChar char="●"/>
            </a:pPr>
            <a:r>
              <a:rPr lang="en-GB" sz="7599">
                <a:solidFill>
                  <a:srgbClr val="262626"/>
                </a:solidFill>
                <a:latin typeface="Arial"/>
                <a:ea typeface="Arial"/>
                <a:cs typeface="Arial"/>
                <a:sym typeface="Arial"/>
              </a:rPr>
              <a:t>Sustainable energy solutions, such as solar power with battery backup, ensure continuous operation in remote areas.</a:t>
            </a:r>
            <a:endParaRPr sz="7599">
              <a:solidFill>
                <a:srgbClr val="262626"/>
              </a:solidFill>
              <a:latin typeface="Arial"/>
              <a:ea typeface="Arial"/>
              <a:cs typeface="Arial"/>
              <a:sym typeface="Arial"/>
            </a:endParaRPr>
          </a:p>
          <a:p>
            <a:pPr indent="-349234" lvl="0" marL="457200" rtl="0" algn="just">
              <a:lnSpc>
                <a:spcPct val="150000"/>
              </a:lnSpc>
              <a:spcBef>
                <a:spcPts val="0"/>
              </a:spcBef>
              <a:spcAft>
                <a:spcPts val="0"/>
              </a:spcAft>
              <a:buClr>
                <a:srgbClr val="262626"/>
              </a:buClr>
              <a:buSzPct val="100000"/>
              <a:buFont typeface="Arial"/>
              <a:buChar char="●"/>
            </a:pPr>
            <a:r>
              <a:rPr lang="en-GB" sz="7599">
                <a:solidFill>
                  <a:srgbClr val="262626"/>
                </a:solidFill>
                <a:latin typeface="Arial"/>
                <a:ea typeface="Arial"/>
                <a:cs typeface="Arial"/>
                <a:sym typeface="Arial"/>
              </a:rPr>
              <a:t>A robust communication network using LoRa and Wi-Fi enables seamless alerts and better emergency response.</a:t>
            </a:r>
            <a:endParaRPr sz="7599">
              <a:solidFill>
                <a:srgbClr val="262626"/>
              </a:solidFill>
              <a:latin typeface="Arial"/>
              <a:ea typeface="Arial"/>
              <a:cs typeface="Arial"/>
              <a:sym typeface="Arial"/>
            </a:endParaRPr>
          </a:p>
          <a:p>
            <a:pPr indent="0" lvl="0" marL="0" rtl="0" algn="just">
              <a:lnSpc>
                <a:spcPct val="105000"/>
              </a:lnSpc>
              <a:spcBef>
                <a:spcPts val="800"/>
              </a:spcBef>
              <a:spcAft>
                <a:spcPts val="0"/>
              </a:spcAft>
              <a:buNone/>
            </a:pPr>
            <a:r>
              <a:t/>
            </a:r>
            <a:endParaRPr sz="1708">
              <a:solidFill>
                <a:srgbClr val="262626"/>
              </a:solidFill>
              <a:latin typeface="Arial"/>
              <a:ea typeface="Arial"/>
              <a:cs typeface="Arial"/>
              <a:sym typeface="Arial"/>
            </a:endParaRPr>
          </a:p>
          <a:p>
            <a:pPr indent="0" lvl="0" marL="0" rtl="0" algn="just">
              <a:lnSpc>
                <a:spcPct val="105000"/>
              </a:lnSpc>
              <a:spcBef>
                <a:spcPts val="800"/>
              </a:spcBef>
              <a:spcAft>
                <a:spcPts val="0"/>
              </a:spcAft>
              <a:buNone/>
            </a:pPr>
            <a:r>
              <a:t/>
            </a: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1230144" y="478958"/>
            <a:ext cx="66837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LIST OF REFERENCES:</a:t>
            </a:r>
            <a:endParaRPr>
              <a:latin typeface="Arial Rounded"/>
              <a:ea typeface="Arial Rounded"/>
              <a:cs typeface="Arial Rounded"/>
              <a:sym typeface="Arial Rounded"/>
            </a:endParaRPr>
          </a:p>
        </p:txBody>
      </p:sp>
      <p:sp>
        <p:nvSpPr>
          <p:cNvPr id="196" name="Google Shape;196;p36"/>
          <p:cNvSpPr txBox="1"/>
          <p:nvPr>
            <p:ph idx="1" type="body"/>
          </p:nvPr>
        </p:nvSpPr>
        <p:spPr>
          <a:xfrm>
            <a:off x="577800" y="1304850"/>
            <a:ext cx="8145000" cy="3440700"/>
          </a:xfrm>
          <a:prstGeom prst="rect">
            <a:avLst/>
          </a:prstGeom>
        </p:spPr>
        <p:txBody>
          <a:bodyPr anchorCtr="0" anchor="t" bIns="34275" lIns="68575" spcFirstLastPara="1" rIns="68575" wrap="square" tIns="34275">
            <a:noAutofit/>
          </a:bodyPr>
          <a:lstStyle/>
          <a:p>
            <a:pPr indent="-316865" lvl="0" marL="457200" rtl="0" algn="l">
              <a:lnSpc>
                <a:spcPct val="105000"/>
              </a:lnSpc>
              <a:spcBef>
                <a:spcPts val="800"/>
              </a:spcBef>
              <a:spcAft>
                <a:spcPts val="0"/>
              </a:spcAft>
              <a:buClr>
                <a:srgbClr val="262626"/>
              </a:buClr>
              <a:buSzPts val="1390"/>
              <a:buFont typeface="Arial"/>
              <a:buChar char="●"/>
            </a:pPr>
            <a:r>
              <a:rPr b="1" lang="en-GB" sz="1390">
                <a:solidFill>
                  <a:srgbClr val="262626"/>
                </a:solidFill>
                <a:latin typeface="Arial"/>
                <a:ea typeface="Arial"/>
                <a:cs typeface="Arial"/>
                <a:sym typeface="Arial"/>
              </a:rPr>
              <a:t>“E</a:t>
            </a:r>
            <a:r>
              <a:rPr b="1" lang="en-GB" sz="1390">
                <a:solidFill>
                  <a:srgbClr val="262626"/>
                </a:solidFill>
                <a:latin typeface="Arial"/>
                <a:ea typeface="Arial"/>
                <a:cs typeface="Arial"/>
                <a:sym typeface="Arial"/>
              </a:rPr>
              <a:t>ARLY WARNING SYSTEM FOR DETECTION OF HARMFUL ANIMALS USING IOT”</a:t>
            </a:r>
            <a:r>
              <a:rPr lang="en-GB" sz="1390">
                <a:solidFill>
                  <a:srgbClr val="262626"/>
                </a:solidFill>
                <a:latin typeface="Arial"/>
                <a:ea typeface="Arial"/>
                <a:cs typeface="Arial"/>
                <a:sym typeface="Arial"/>
              </a:rPr>
              <a:t> - Sahane Pradnya Sambhaji, Salunke Nikita Sanjiv, Shirsath Vitthal Somnath, Shukla Shreyas Sanjay, Prof. A. R. Panhalkar (2019).</a:t>
            </a:r>
            <a:endParaRPr sz="1390">
              <a:solidFill>
                <a:srgbClr val="262626"/>
              </a:solidFill>
              <a:latin typeface="Arial"/>
              <a:ea typeface="Arial"/>
              <a:cs typeface="Arial"/>
              <a:sym typeface="Arial"/>
            </a:endParaRPr>
          </a:p>
          <a:p>
            <a:pPr indent="0" lvl="0" marL="457200" rtl="0" algn="l">
              <a:lnSpc>
                <a:spcPct val="105000"/>
              </a:lnSpc>
              <a:spcBef>
                <a:spcPts val="800"/>
              </a:spcBef>
              <a:spcAft>
                <a:spcPts val="0"/>
              </a:spcAft>
              <a:buNone/>
            </a:pPr>
            <a:r>
              <a:t/>
            </a:r>
            <a:endParaRPr sz="1390">
              <a:solidFill>
                <a:srgbClr val="262626"/>
              </a:solidFill>
              <a:latin typeface="Arial"/>
              <a:ea typeface="Arial"/>
              <a:cs typeface="Arial"/>
              <a:sym typeface="Arial"/>
            </a:endParaRPr>
          </a:p>
          <a:p>
            <a:pPr indent="-316865" lvl="0" marL="457200" rtl="0" algn="l">
              <a:lnSpc>
                <a:spcPct val="105000"/>
              </a:lnSpc>
              <a:spcBef>
                <a:spcPts val="800"/>
              </a:spcBef>
              <a:spcAft>
                <a:spcPts val="0"/>
              </a:spcAft>
              <a:buClr>
                <a:srgbClr val="262626"/>
              </a:buClr>
              <a:buSzPts val="1390"/>
              <a:buFont typeface="Arial"/>
              <a:buChar char="●"/>
            </a:pPr>
            <a:r>
              <a:rPr b="1" lang="en-GB" sz="1390">
                <a:solidFill>
                  <a:srgbClr val="262626"/>
                </a:solidFill>
                <a:latin typeface="Arial"/>
                <a:ea typeface="Arial"/>
                <a:cs typeface="Arial"/>
                <a:sym typeface="Arial"/>
              </a:rPr>
              <a:t>“ANIMATION AND CHIRPLET-BASED DEVELOPMENT OF A PIR SENSOR ARRAY FOR INTRUDER CLASSIFICATION IN AN OUTDOOR ENVIRONMENT.” </a:t>
            </a:r>
            <a:r>
              <a:rPr lang="en-GB" sz="1390">
                <a:solidFill>
                  <a:srgbClr val="262626"/>
                </a:solidFill>
                <a:latin typeface="Arial"/>
                <a:ea typeface="Arial"/>
                <a:cs typeface="Arial"/>
                <a:sym typeface="Arial"/>
              </a:rPr>
              <a:t>- Upadrashta, R., Choubisa, T., Praneeth, A., Tony, G., Aswath, V. S., &amp; Kumar, P. V, Kowshik, S., Gokul, H. P. R., &amp; Prabhakar, T. V. (2016, April 13). Department of Electronic Systems Engineering, Indian Institute of Science, Bengaluru.</a:t>
            </a:r>
            <a:endParaRPr sz="1390">
              <a:solidFill>
                <a:srgbClr val="262626"/>
              </a:solidFill>
              <a:latin typeface="Arial"/>
              <a:ea typeface="Arial"/>
              <a:cs typeface="Arial"/>
              <a:sym typeface="Arial"/>
            </a:endParaRPr>
          </a:p>
          <a:p>
            <a:pPr indent="0" lvl="0" marL="457200" rtl="0" algn="l">
              <a:lnSpc>
                <a:spcPct val="105000"/>
              </a:lnSpc>
              <a:spcBef>
                <a:spcPts val="800"/>
              </a:spcBef>
              <a:spcAft>
                <a:spcPts val="0"/>
              </a:spcAft>
              <a:buNone/>
            </a:pPr>
            <a:r>
              <a:t/>
            </a:r>
            <a:endParaRPr sz="1390">
              <a:solidFill>
                <a:srgbClr val="262626"/>
              </a:solidFill>
              <a:latin typeface="Arial"/>
              <a:ea typeface="Arial"/>
              <a:cs typeface="Arial"/>
              <a:sym typeface="Arial"/>
            </a:endParaRPr>
          </a:p>
          <a:p>
            <a:pPr indent="-316865" lvl="0" marL="457200" rtl="0" algn="l">
              <a:lnSpc>
                <a:spcPct val="105000"/>
              </a:lnSpc>
              <a:spcBef>
                <a:spcPts val="800"/>
              </a:spcBef>
              <a:spcAft>
                <a:spcPts val="0"/>
              </a:spcAft>
              <a:buClr>
                <a:srgbClr val="262626"/>
              </a:buClr>
              <a:buSzPts val="1390"/>
              <a:buFont typeface="Arial"/>
              <a:buChar char="●"/>
            </a:pPr>
            <a:r>
              <a:rPr b="1" lang="en-GB" sz="1390">
                <a:solidFill>
                  <a:srgbClr val="262626"/>
                </a:solidFill>
                <a:latin typeface="Arial"/>
                <a:ea typeface="Arial"/>
                <a:cs typeface="Arial"/>
                <a:sym typeface="Arial"/>
              </a:rPr>
              <a:t>“WILD ANIMAL DETECTION USING DEEP CONVOLUTIONAL NEURAL NETWORK.”</a:t>
            </a:r>
            <a:r>
              <a:rPr lang="en-GB" sz="1390">
                <a:solidFill>
                  <a:srgbClr val="262626"/>
                </a:solidFill>
                <a:latin typeface="Arial"/>
                <a:ea typeface="Arial"/>
                <a:cs typeface="Arial"/>
                <a:sym typeface="Arial"/>
              </a:rPr>
              <a:t> - Verma, G. K., &amp; Gupta, P. (2018). Proceedings of the 2nd International Conference on Computer Vision &amp; Image Processing.</a:t>
            </a:r>
            <a:endParaRPr sz="1390">
              <a:solidFill>
                <a:srgbClr val="262626"/>
              </a:solidFill>
              <a:latin typeface="Arial"/>
              <a:ea typeface="Arial"/>
              <a:cs typeface="Arial"/>
              <a:sym typeface="Arial"/>
            </a:endParaRPr>
          </a:p>
          <a:p>
            <a:pPr indent="0" lvl="0" marL="0" rtl="0" algn="l">
              <a:lnSpc>
                <a:spcPct val="105000"/>
              </a:lnSpc>
              <a:spcBef>
                <a:spcPts val="800"/>
              </a:spcBef>
              <a:spcAft>
                <a:spcPts val="0"/>
              </a:spcAft>
              <a:buSzPts val="605"/>
              <a:buNone/>
            </a:pPr>
            <a:r>
              <a:t/>
            </a:r>
            <a:endParaRPr sz="1190"/>
          </a:p>
          <a:p>
            <a:pPr indent="0" lvl="0" marL="0" rtl="0" algn="l">
              <a:lnSpc>
                <a:spcPct val="105000"/>
              </a:lnSpc>
              <a:spcBef>
                <a:spcPts val="800"/>
              </a:spcBef>
              <a:spcAft>
                <a:spcPts val="0"/>
              </a:spcAft>
              <a:buSzPts val="605"/>
              <a:buNone/>
            </a:pPr>
            <a:r>
              <a:t/>
            </a:r>
            <a:endParaRPr sz="1290"/>
          </a:p>
          <a:p>
            <a:pPr indent="0" lvl="0" marL="0" rtl="0" algn="l">
              <a:lnSpc>
                <a:spcPct val="105000"/>
              </a:lnSpc>
              <a:spcBef>
                <a:spcPts val="800"/>
              </a:spcBef>
              <a:spcAft>
                <a:spcPts val="0"/>
              </a:spcAft>
              <a:buSzPts val="605"/>
              <a:buNone/>
            </a:pPr>
            <a:r>
              <a:t/>
            </a:r>
            <a:endParaRPr sz="109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7"/>
          <p:cNvSpPr txBox="1"/>
          <p:nvPr>
            <p:ph type="title"/>
          </p:nvPr>
        </p:nvSpPr>
        <p:spPr>
          <a:xfrm>
            <a:off x="1228650" y="511550"/>
            <a:ext cx="6686700" cy="96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a:latin typeface="Arial Rounded"/>
                <a:ea typeface="Arial Rounded"/>
                <a:cs typeface="Arial Rounded"/>
                <a:sym typeface="Arial Rounded"/>
              </a:rPr>
              <a:t>LIST OF REFERENCES:</a:t>
            </a:r>
            <a:endParaRPr/>
          </a:p>
        </p:txBody>
      </p:sp>
      <p:sp>
        <p:nvSpPr>
          <p:cNvPr id="202" name="Google Shape;202;p37"/>
          <p:cNvSpPr txBox="1"/>
          <p:nvPr>
            <p:ph idx="1" type="body"/>
          </p:nvPr>
        </p:nvSpPr>
        <p:spPr>
          <a:xfrm>
            <a:off x="443500" y="1380675"/>
            <a:ext cx="8139300" cy="3286200"/>
          </a:xfrm>
          <a:prstGeom prst="rect">
            <a:avLst/>
          </a:prstGeom>
        </p:spPr>
        <p:txBody>
          <a:bodyPr anchorCtr="0" anchor="t" bIns="34275" lIns="68575" spcFirstLastPara="1" rIns="68575" wrap="square" tIns="34275">
            <a:normAutofit lnSpcReduction="20000"/>
          </a:bodyPr>
          <a:lstStyle/>
          <a:p>
            <a:pPr indent="-336550" lvl="0" marL="457200" rtl="0" algn="l">
              <a:lnSpc>
                <a:spcPct val="100000"/>
              </a:lnSpc>
              <a:spcBef>
                <a:spcPts val="0"/>
              </a:spcBef>
              <a:spcAft>
                <a:spcPts val="0"/>
              </a:spcAft>
              <a:buClr>
                <a:srgbClr val="262626"/>
              </a:buClr>
              <a:buSzPts val="1700"/>
              <a:buFont typeface="Arial"/>
              <a:buChar char="●"/>
            </a:pPr>
            <a:r>
              <a:rPr b="1" lang="en-GB" sz="1700">
                <a:solidFill>
                  <a:srgbClr val="262626"/>
                </a:solidFill>
                <a:latin typeface="Arial"/>
                <a:ea typeface="Arial"/>
                <a:cs typeface="Arial"/>
                <a:sym typeface="Arial"/>
              </a:rPr>
              <a:t>“AN EPHEMERAL INVESTIGATION ON FOREST FIRE, WILDLIFE PRESERVATION, AND TRIBAL PREPAREDNESS USING DEEP LEARNING AND IOT.”</a:t>
            </a:r>
            <a:r>
              <a:rPr lang="en-GB" sz="1700">
                <a:solidFill>
                  <a:srgbClr val="262626"/>
                </a:solidFill>
                <a:latin typeface="Arial"/>
                <a:ea typeface="Arial"/>
                <a:cs typeface="Arial"/>
                <a:sym typeface="Arial"/>
              </a:rPr>
              <a:t> - Achyutha Prasad N, Chaithra B C, Ajay M, Chandan B Ram, Bhavana N, Department of CSE, East West Institute of Technology, Bengaluru, India (4 December 2023).</a:t>
            </a:r>
            <a:endParaRPr sz="1700">
              <a:solidFill>
                <a:srgbClr val="262626"/>
              </a:solidFill>
              <a:latin typeface="Arial"/>
              <a:ea typeface="Arial"/>
              <a:cs typeface="Arial"/>
              <a:sym typeface="Arial"/>
            </a:endParaRPr>
          </a:p>
          <a:p>
            <a:pPr indent="0" lvl="0" marL="0" rtl="0" algn="l">
              <a:lnSpc>
                <a:spcPct val="100000"/>
              </a:lnSpc>
              <a:spcBef>
                <a:spcPts val="0"/>
              </a:spcBef>
              <a:spcAft>
                <a:spcPts val="0"/>
              </a:spcAft>
              <a:buNone/>
            </a:pPr>
            <a:r>
              <a:t/>
            </a:r>
            <a:endParaRPr sz="1700">
              <a:solidFill>
                <a:srgbClr val="262626"/>
              </a:solidFill>
              <a:latin typeface="Arial"/>
              <a:ea typeface="Arial"/>
              <a:cs typeface="Arial"/>
              <a:sym typeface="Arial"/>
            </a:endParaRPr>
          </a:p>
          <a:p>
            <a:pPr indent="-336550" lvl="0" marL="457200" rtl="0" algn="l">
              <a:lnSpc>
                <a:spcPct val="100000"/>
              </a:lnSpc>
              <a:spcBef>
                <a:spcPts val="0"/>
              </a:spcBef>
              <a:spcAft>
                <a:spcPts val="0"/>
              </a:spcAft>
              <a:buClr>
                <a:srgbClr val="262626"/>
              </a:buClr>
              <a:buSzPts val="1700"/>
              <a:buFont typeface="Arial"/>
              <a:buChar char="●"/>
            </a:pPr>
            <a:r>
              <a:rPr b="1" lang="en-GB" sz="1700">
                <a:solidFill>
                  <a:srgbClr val="262626"/>
                </a:solidFill>
                <a:latin typeface="Arial"/>
                <a:ea typeface="Arial"/>
                <a:cs typeface="Arial"/>
                <a:sym typeface="Arial"/>
              </a:rPr>
              <a:t>“IOT SENSOR NETWORK FOR WILD-ANIMAL DETECTION NEAR ROADS.”</a:t>
            </a:r>
            <a:r>
              <a:rPr lang="en-GB" sz="1700">
                <a:solidFill>
                  <a:srgbClr val="262626"/>
                </a:solidFill>
                <a:latin typeface="Arial"/>
                <a:ea typeface="Arial"/>
                <a:cs typeface="Arial"/>
                <a:sym typeface="Arial"/>
              </a:rPr>
              <a:t> - Mindaugas Knyva, Department of Electronics Engineering, Faculty of Electrical and Electronics, Kaunas University of Technology, Darius Gailius, Faculty of Electrical and Electronics, Metrology Institute, Kaunas University of Technology, LT-51368 Kaunas, Lithuania, Gintautas Balčiūnas MB “Dokinovacija”, LT-45252 Kaunas, Lithuania, Darius Pratašius, Pranas Kuzas, and Aistė Kukanauskaitė (2 November 2023).</a:t>
            </a:r>
            <a:endParaRPr sz="1700">
              <a:solidFill>
                <a:srgbClr val="262626"/>
              </a:solidFill>
              <a:latin typeface="Arial"/>
              <a:ea typeface="Arial"/>
              <a:cs typeface="Arial"/>
              <a:sym typeface="Arial"/>
            </a:endParaRPr>
          </a:p>
          <a:p>
            <a:pPr indent="0" lvl="0" marL="0" rtl="0" algn="l">
              <a:lnSpc>
                <a:spcPct val="100000"/>
              </a:lnSpc>
              <a:spcBef>
                <a:spcPts val="0"/>
              </a:spcBef>
              <a:spcAft>
                <a:spcPts val="0"/>
              </a:spcAft>
              <a:buNone/>
            </a:pPr>
            <a:r>
              <a:t/>
            </a:r>
            <a:endParaRPr sz="1400">
              <a:solidFill>
                <a:schemeClr val="accent3"/>
              </a:solidFill>
              <a:latin typeface="Arial Rounded"/>
              <a:ea typeface="Arial Rounded"/>
              <a:cs typeface="Arial Rounded"/>
              <a:sym typeface="Arial Rounde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ph type="title"/>
          </p:nvPr>
        </p:nvSpPr>
        <p:spPr>
          <a:xfrm>
            <a:off x="1417850" y="2173550"/>
            <a:ext cx="6519600" cy="11169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GB" sz="5500"/>
              <a:t>   </a:t>
            </a:r>
            <a:r>
              <a:rPr lang="en-GB" sz="5500"/>
              <a:t>THANK YOU !</a:t>
            </a:r>
            <a:endParaRPr sz="5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